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155448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63040"/>
            <a:ext cx="73152" cy="256032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972800" cy="457200"/>
          </a:xfrm>
          <a:prstGeom prst="rect">
            <a:avLst/>
          </a:prstGeom>
          <a:noFill/>
        </p:spPr>
        <p:txBody>
          <a:bodyPr wrap="square">
            <a:spAutoFit/>
          </a:bodyPr>
          <a:lstStyle/>
          <a:p>
            <a:pPr algn="l"/>
            <a:r>
              <a:rPr sz="1200" b="0" i="0">
                <a:solidFill>
                  <a:srgbClr val="A0B9DC"/>
                </a:solidFill>
                <a:latin typeface="Meiryo"/>
              </a:rPr>
              <a:t>役員向け・社外秘</a:t>
            </a:r>
          </a:p>
        </p:txBody>
      </p:sp>
      <p:sp>
        <p:nvSpPr>
          <p:cNvPr id="6" name="TextBox 5"/>
          <p:cNvSpPr txBox="1"/>
          <p:nvPr/>
        </p:nvSpPr>
        <p:spPr>
          <a:xfrm>
            <a:off x="731520" y="1188720"/>
            <a:ext cx="10972800" cy="1005840"/>
          </a:xfrm>
          <a:prstGeom prst="rect">
            <a:avLst/>
          </a:prstGeom>
          <a:noFill/>
        </p:spPr>
        <p:txBody>
          <a:bodyPr wrap="square">
            <a:spAutoFit/>
          </a:bodyPr>
          <a:lstStyle/>
          <a:p>
            <a:pPr algn="l"/>
            <a:r>
              <a:rPr sz="3800" b="1" i="0">
                <a:solidFill>
                  <a:srgbClr val="FFFFFF"/>
                </a:solidFill>
                <a:latin typeface="Meiryo"/>
              </a:rPr>
              <a:t>Claude Code 社内導入提案</a:t>
            </a:r>
          </a:p>
        </p:txBody>
      </p:sp>
      <p:sp>
        <p:nvSpPr>
          <p:cNvPr id="7" name="TextBox 6"/>
          <p:cNvSpPr txBox="1"/>
          <p:nvPr/>
        </p:nvSpPr>
        <p:spPr>
          <a:xfrm>
            <a:off x="731520" y="2286000"/>
            <a:ext cx="10972800" cy="457200"/>
          </a:xfrm>
          <a:prstGeom prst="rect">
            <a:avLst/>
          </a:prstGeom>
          <a:noFill/>
        </p:spPr>
        <p:txBody>
          <a:bodyPr wrap="square">
            <a:spAutoFit/>
          </a:bodyPr>
          <a:lstStyle/>
          <a:p>
            <a:pPr algn="l"/>
            <a:r>
              <a:rPr sz="1600" b="0" i="0">
                <a:solidFill>
                  <a:srgbClr val="78AADC"/>
                </a:solidFill>
                <a:latin typeface="Meiryo"/>
              </a:rPr>
              <a:t>〜 AIエージェントハブとして、全業務を変える 〜</a:t>
            </a:r>
          </a:p>
        </p:txBody>
      </p:sp>
      <p:sp>
        <p:nvSpPr>
          <p:cNvPr id="8" name="TextBox 7"/>
          <p:cNvSpPr txBox="1"/>
          <p:nvPr/>
        </p:nvSpPr>
        <p:spPr>
          <a:xfrm>
            <a:off x="731520" y="2926080"/>
            <a:ext cx="10972800" cy="1097280"/>
          </a:xfrm>
          <a:prstGeom prst="rect">
            <a:avLst/>
          </a:prstGeom>
          <a:noFill/>
        </p:spPr>
        <p:txBody>
          <a:bodyPr wrap="square">
            <a:spAutoFit/>
          </a:bodyPr>
          <a:lstStyle/>
          <a:p>
            <a:pPr algn="l"/>
            <a:r>
              <a:rPr sz="1300" b="0" i="0">
                <a:solidFill>
                  <a:srgbClr val="B4C8E6"/>
                </a:solidFill>
                <a:latin typeface="Meiryo"/>
              </a:rPr>
              <a:t>コードを書くツールではない。あらゆるAIサービス・社内システムと連携し、</a:t>
            </a:r>
          </a:p>
          <a:p>
            <a:pPr algn="l"/>
            <a:r>
              <a:rPr sz="1300" b="0" i="0">
                <a:solidFill>
                  <a:srgbClr val="B4C8E6"/>
                </a:solidFill>
                <a:latin typeface="Meiryo"/>
              </a:rPr>
              <a:t>開発・営業・管理・提案まで横断的に業務を自動化する次世代AI基盤の導入提案。</a:t>
            </a:r>
          </a:p>
        </p:txBody>
      </p:sp>
      <p:sp>
        <p:nvSpPr>
          <p:cNvPr id="9" name="TextBox 8"/>
          <p:cNvSpPr txBox="1"/>
          <p:nvPr/>
        </p:nvSpPr>
        <p:spPr>
          <a:xfrm>
            <a:off x="731520" y="5440680"/>
            <a:ext cx="5486400" cy="411480"/>
          </a:xfrm>
          <a:prstGeom prst="rect">
            <a:avLst/>
          </a:prstGeom>
          <a:noFill/>
        </p:spPr>
        <p:txBody>
          <a:bodyPr wrap="square">
            <a:spAutoFit/>
          </a:bodyPr>
          <a:lstStyle/>
          <a:p>
            <a:pPr algn="l"/>
            <a:r>
              <a:rPr sz="1200" b="0" i="0">
                <a:solidFill>
                  <a:srgbClr val="C8D7EB"/>
                </a:solidFill>
                <a:latin typeface="Meiryo"/>
              </a:rPr>
              <a:t>2026年3月28日</a:t>
            </a:r>
          </a:p>
        </p:txBody>
      </p:sp>
      <p:sp>
        <p:nvSpPr>
          <p:cNvPr id="10" name="TextBox 9"/>
          <p:cNvSpPr txBox="1"/>
          <p:nvPr/>
        </p:nvSpPr>
        <p:spPr>
          <a:xfrm>
            <a:off x="5943600" y="5440680"/>
            <a:ext cx="5486400" cy="411480"/>
          </a:xfrm>
          <a:prstGeom prst="rect">
            <a:avLst/>
          </a:prstGeom>
          <a:noFill/>
        </p:spPr>
        <p:txBody>
          <a:bodyPr wrap="square">
            <a:spAutoFit/>
          </a:bodyPr>
          <a:lstStyle/>
          <a:p>
            <a:pPr algn="r"/>
            <a:r>
              <a:rPr sz="1200" b="0" i="0">
                <a:solidFill>
                  <a:srgbClr val="C8D7EB"/>
                </a:solidFill>
                <a:latin typeface="Meiryo"/>
              </a:rPr>
              <a:t>対象：全部門・役員　｜　機密区分：社内限り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r>
              <a:rPr sz="2400" b="1" i="0">
                <a:solidFill>
                  <a:srgbClr val="FFFFFF"/>
                </a:solidFill>
                <a:latin typeface="Meiryo"/>
              </a:rPr>
              <a:t>01｜Claude Code とは何か</a:t>
            </a:r>
          </a:p>
        </p:txBody>
      </p:sp>
      <p:sp>
        <p:nvSpPr>
          <p:cNvPr id="4" name="TextBox 3"/>
          <p:cNvSpPr txBox="1"/>
          <p:nvPr/>
        </p:nvSpPr>
        <p:spPr>
          <a:xfrm>
            <a:off x="457200" y="658368"/>
            <a:ext cx="10972800" cy="320040"/>
          </a:xfrm>
          <a:prstGeom prst="rect">
            <a:avLst/>
          </a:prstGeom>
          <a:noFill/>
        </p:spPr>
        <p:txBody>
          <a:bodyPr wrap="square">
            <a:spAutoFit/>
          </a:bodyPr>
          <a:lstStyle/>
          <a:p>
            <a:pPr algn="l"/>
            <a:r>
              <a:rPr sz="1200" b="0" i="0">
                <a:solidFill>
                  <a:srgbClr val="B4C8E6"/>
                </a:solidFill>
                <a:latin typeface="Meiryo"/>
              </a:rPr>
              <a:t>「コードを書くAI」ではなく「AIエージェントハブ」</a:t>
            </a:r>
          </a:p>
        </p:txBody>
      </p:sp>
      <p:sp>
        <p:nvSpPr>
          <p:cNvPr id="5" name="Rectangle 4"/>
          <p:cNvSpPr/>
          <p:nvPr/>
        </p:nvSpPr>
        <p:spPr>
          <a:xfrm>
            <a:off x="5184648" y="2560320"/>
            <a:ext cx="1828800" cy="18288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84648" y="2651760"/>
            <a:ext cx="1828800" cy="457200"/>
          </a:xfrm>
          <a:prstGeom prst="rect">
            <a:avLst/>
          </a:prstGeom>
          <a:noFill/>
        </p:spPr>
        <p:txBody>
          <a:bodyPr wrap="square">
            <a:spAutoFit/>
          </a:bodyPr>
          <a:lstStyle/>
          <a:p>
            <a:pPr algn="ctr"/>
            <a:r>
              <a:rPr sz="2600" b="0" i="0">
                <a:solidFill>
                  <a:srgbClr val="FFFFFF"/>
                </a:solidFill>
                <a:latin typeface="Meiryo"/>
              </a:rPr>
              <a:t>🤖</a:t>
            </a:r>
          </a:p>
        </p:txBody>
      </p:sp>
      <p:sp>
        <p:nvSpPr>
          <p:cNvPr id="7" name="TextBox 6"/>
          <p:cNvSpPr txBox="1"/>
          <p:nvPr/>
        </p:nvSpPr>
        <p:spPr>
          <a:xfrm>
            <a:off x="5184648" y="3108960"/>
            <a:ext cx="1828800" cy="457200"/>
          </a:xfrm>
          <a:prstGeom prst="rect">
            <a:avLst/>
          </a:prstGeom>
          <a:noFill/>
        </p:spPr>
        <p:txBody>
          <a:bodyPr wrap="square">
            <a:spAutoFit/>
          </a:bodyPr>
          <a:lstStyle/>
          <a:p>
            <a:pPr algn="ctr"/>
            <a:r>
              <a:rPr sz="1300" b="1" i="0">
                <a:solidFill>
                  <a:srgbClr val="FFFFFF"/>
                </a:solidFill>
                <a:latin typeface="Meiryo"/>
              </a:rPr>
              <a:t>Claude Code</a:t>
            </a:r>
          </a:p>
        </p:txBody>
      </p:sp>
      <p:sp>
        <p:nvSpPr>
          <p:cNvPr id="8" name="TextBox 7"/>
          <p:cNvSpPr txBox="1"/>
          <p:nvPr/>
        </p:nvSpPr>
        <p:spPr>
          <a:xfrm>
            <a:off x="5184648" y="3520440"/>
            <a:ext cx="1828800" cy="365760"/>
          </a:xfrm>
          <a:prstGeom prst="rect">
            <a:avLst/>
          </a:prstGeom>
          <a:noFill/>
        </p:spPr>
        <p:txBody>
          <a:bodyPr wrap="square">
            <a:spAutoFit/>
          </a:bodyPr>
          <a:lstStyle/>
          <a:p>
            <a:pPr algn="ctr"/>
            <a:r>
              <a:rPr sz="1000" b="0" i="0">
                <a:solidFill>
                  <a:srgbClr val="B4D2F0"/>
                </a:solidFill>
                <a:latin typeface="Meiryo"/>
              </a:rPr>
              <a:t>AIエージェントハブ</a:t>
            </a:r>
          </a:p>
        </p:txBody>
      </p:sp>
      <p:sp>
        <p:nvSpPr>
          <p:cNvPr id="9" name="Rectangle 8"/>
          <p:cNvSpPr/>
          <p:nvPr/>
        </p:nvSpPr>
        <p:spPr>
          <a:xfrm>
            <a:off x="274320" y="1234440"/>
            <a:ext cx="3840480" cy="100584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325880"/>
            <a:ext cx="3621024" cy="320040"/>
          </a:xfrm>
          <a:prstGeom prst="rect">
            <a:avLst/>
          </a:prstGeom>
          <a:noFill/>
        </p:spPr>
        <p:txBody>
          <a:bodyPr wrap="square">
            <a:spAutoFit/>
          </a:bodyPr>
          <a:lstStyle/>
          <a:p>
            <a:pPr algn="l"/>
            <a:r>
              <a:rPr sz="1200" b="1" i="0">
                <a:solidFill>
                  <a:srgbClr val="0077CC"/>
                </a:solidFill>
                <a:latin typeface="Meiryo"/>
              </a:rPr>
              <a:t>📧 メール / カレンダー</a:t>
            </a:r>
          </a:p>
        </p:txBody>
      </p:sp>
      <p:sp>
        <p:nvSpPr>
          <p:cNvPr id="11" name="TextBox 10"/>
          <p:cNvSpPr txBox="1"/>
          <p:nvPr/>
        </p:nvSpPr>
        <p:spPr>
          <a:xfrm>
            <a:off x="384048" y="1618488"/>
            <a:ext cx="3621024" cy="530352"/>
          </a:xfrm>
          <a:prstGeom prst="rect">
            <a:avLst/>
          </a:prstGeom>
          <a:noFill/>
        </p:spPr>
        <p:txBody>
          <a:bodyPr wrap="square">
            <a:spAutoFit/>
          </a:bodyPr>
          <a:lstStyle/>
          <a:p>
            <a:pPr algn="l"/>
            <a:r>
              <a:rPr sz="1000" b="0" i="0">
                <a:solidFill>
                  <a:srgbClr val="4A5568"/>
                </a:solidFill>
                <a:latin typeface="Meiryo"/>
              </a:rPr>
              <a:t>Gmail / Outlook</a:t>
            </a:r>
          </a:p>
        </p:txBody>
      </p:sp>
      <p:sp>
        <p:nvSpPr>
          <p:cNvPr id="12" name="TextBox 11"/>
          <p:cNvSpPr txBox="1"/>
          <p:nvPr/>
        </p:nvSpPr>
        <p:spPr>
          <a:xfrm>
            <a:off x="4114800" y="1554480"/>
            <a:ext cx="1097280" cy="365760"/>
          </a:xfrm>
          <a:prstGeom prst="rect">
            <a:avLst/>
          </a:prstGeom>
          <a:noFill/>
        </p:spPr>
        <p:txBody>
          <a:bodyPr wrap="square">
            <a:spAutoFit/>
          </a:bodyPr>
          <a:lstStyle/>
          <a:p>
            <a:pPr algn="ctr"/>
            <a:r>
              <a:rPr sz="1800" b="0" i="0">
                <a:solidFill>
                  <a:srgbClr val="0077CC"/>
                </a:solidFill>
                <a:latin typeface="Meiryo"/>
              </a:rPr>
              <a:t>⇄</a:t>
            </a:r>
          </a:p>
        </p:txBody>
      </p:sp>
      <p:sp>
        <p:nvSpPr>
          <p:cNvPr id="13" name="Rectangle 12"/>
          <p:cNvSpPr/>
          <p:nvPr/>
        </p:nvSpPr>
        <p:spPr>
          <a:xfrm>
            <a:off x="274320" y="2468880"/>
            <a:ext cx="3840480" cy="1005840"/>
          </a:xfrm>
          <a:prstGeom prst="rect">
            <a:avLst/>
          </a:prstGeom>
          <a:solidFill>
            <a:srgbClr val="E6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2560320"/>
            <a:ext cx="3621024" cy="320040"/>
          </a:xfrm>
          <a:prstGeom prst="rect">
            <a:avLst/>
          </a:prstGeom>
          <a:noFill/>
        </p:spPr>
        <p:txBody>
          <a:bodyPr wrap="square">
            <a:spAutoFit/>
          </a:bodyPr>
          <a:lstStyle/>
          <a:p>
            <a:pPr algn="l"/>
            <a:r>
              <a:rPr sz="1200" b="1" i="0">
                <a:solidFill>
                  <a:srgbClr val="0A7C42"/>
                </a:solidFill>
                <a:latin typeface="Meiryo"/>
              </a:rPr>
              <a:t>📋 プロジェクト管理</a:t>
            </a:r>
          </a:p>
        </p:txBody>
      </p:sp>
      <p:sp>
        <p:nvSpPr>
          <p:cNvPr id="15" name="TextBox 14"/>
          <p:cNvSpPr txBox="1"/>
          <p:nvPr/>
        </p:nvSpPr>
        <p:spPr>
          <a:xfrm>
            <a:off x="384048" y="2852928"/>
            <a:ext cx="3621024" cy="530352"/>
          </a:xfrm>
          <a:prstGeom prst="rect">
            <a:avLst/>
          </a:prstGeom>
          <a:noFill/>
        </p:spPr>
        <p:txBody>
          <a:bodyPr wrap="square">
            <a:spAutoFit/>
          </a:bodyPr>
          <a:lstStyle/>
          <a:p>
            <a:pPr algn="l"/>
            <a:r>
              <a:rPr sz="1000" b="0" i="0">
                <a:solidFill>
                  <a:srgbClr val="4A5568"/>
                </a:solidFill>
                <a:latin typeface="Meiryo"/>
              </a:rPr>
              <a:t>Jira / Notion</a:t>
            </a:r>
          </a:p>
        </p:txBody>
      </p:sp>
      <p:sp>
        <p:nvSpPr>
          <p:cNvPr id="16" name="TextBox 15"/>
          <p:cNvSpPr txBox="1"/>
          <p:nvPr/>
        </p:nvSpPr>
        <p:spPr>
          <a:xfrm>
            <a:off x="4114800" y="2788920"/>
            <a:ext cx="1097280" cy="365760"/>
          </a:xfrm>
          <a:prstGeom prst="rect">
            <a:avLst/>
          </a:prstGeom>
          <a:noFill/>
        </p:spPr>
        <p:txBody>
          <a:bodyPr wrap="square">
            <a:spAutoFit/>
          </a:bodyPr>
          <a:lstStyle/>
          <a:p>
            <a:pPr algn="ctr"/>
            <a:r>
              <a:rPr sz="1800" b="0" i="0">
                <a:solidFill>
                  <a:srgbClr val="0077CC"/>
                </a:solidFill>
                <a:latin typeface="Meiryo"/>
              </a:rPr>
              <a:t>⇄</a:t>
            </a:r>
          </a:p>
        </p:txBody>
      </p:sp>
      <p:sp>
        <p:nvSpPr>
          <p:cNvPr id="17" name="Rectangle 16"/>
          <p:cNvSpPr/>
          <p:nvPr/>
        </p:nvSpPr>
        <p:spPr>
          <a:xfrm>
            <a:off x="274320" y="3703320"/>
            <a:ext cx="3840480" cy="1005840"/>
          </a:xfrm>
          <a:prstGeom prst="rect">
            <a:avLst/>
          </a:prstGeom>
          <a:solidFill>
            <a:srgbClr val="F0E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3794760"/>
            <a:ext cx="3621024" cy="320040"/>
          </a:xfrm>
          <a:prstGeom prst="rect">
            <a:avLst/>
          </a:prstGeom>
          <a:noFill/>
        </p:spPr>
        <p:txBody>
          <a:bodyPr wrap="square">
            <a:spAutoFit/>
          </a:bodyPr>
          <a:lstStyle/>
          <a:p>
            <a:pPr algn="l"/>
            <a:r>
              <a:rPr sz="1200" b="1" i="0">
                <a:solidFill>
                  <a:srgbClr val="6D28D9"/>
                </a:solidFill>
                <a:latin typeface="Meiryo"/>
              </a:rPr>
              <a:t>💬 コミュニケーション</a:t>
            </a:r>
          </a:p>
        </p:txBody>
      </p:sp>
      <p:sp>
        <p:nvSpPr>
          <p:cNvPr id="19" name="TextBox 18"/>
          <p:cNvSpPr txBox="1"/>
          <p:nvPr/>
        </p:nvSpPr>
        <p:spPr>
          <a:xfrm>
            <a:off x="384048" y="4087368"/>
            <a:ext cx="3621024" cy="530352"/>
          </a:xfrm>
          <a:prstGeom prst="rect">
            <a:avLst/>
          </a:prstGeom>
          <a:noFill/>
        </p:spPr>
        <p:txBody>
          <a:bodyPr wrap="square">
            <a:spAutoFit/>
          </a:bodyPr>
          <a:lstStyle/>
          <a:p>
            <a:pPr algn="l"/>
            <a:r>
              <a:rPr sz="1000" b="0" i="0">
                <a:solidFill>
                  <a:srgbClr val="4A5568"/>
                </a:solidFill>
                <a:latin typeface="Meiryo"/>
              </a:rPr>
              <a:t>Slack / Teams</a:t>
            </a:r>
          </a:p>
        </p:txBody>
      </p:sp>
      <p:sp>
        <p:nvSpPr>
          <p:cNvPr id="20" name="TextBox 19"/>
          <p:cNvSpPr txBox="1"/>
          <p:nvPr/>
        </p:nvSpPr>
        <p:spPr>
          <a:xfrm>
            <a:off x="4114800" y="4023360"/>
            <a:ext cx="1097280" cy="365760"/>
          </a:xfrm>
          <a:prstGeom prst="rect">
            <a:avLst/>
          </a:prstGeom>
          <a:noFill/>
        </p:spPr>
        <p:txBody>
          <a:bodyPr wrap="square">
            <a:spAutoFit/>
          </a:bodyPr>
          <a:lstStyle/>
          <a:p>
            <a:pPr algn="ctr"/>
            <a:r>
              <a:rPr sz="1800" b="0" i="0">
                <a:solidFill>
                  <a:srgbClr val="0077CC"/>
                </a:solidFill>
                <a:latin typeface="Meiryo"/>
              </a:rPr>
              <a:t>⇄</a:t>
            </a:r>
          </a:p>
        </p:txBody>
      </p:sp>
      <p:sp>
        <p:nvSpPr>
          <p:cNvPr id="21" name="Rectangle 20"/>
          <p:cNvSpPr/>
          <p:nvPr/>
        </p:nvSpPr>
        <p:spPr>
          <a:xfrm>
            <a:off x="274320" y="4937760"/>
            <a:ext cx="3840480" cy="1005840"/>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5029200"/>
            <a:ext cx="3621024" cy="320040"/>
          </a:xfrm>
          <a:prstGeom prst="rect">
            <a:avLst/>
          </a:prstGeom>
          <a:noFill/>
        </p:spPr>
        <p:txBody>
          <a:bodyPr wrap="square">
            <a:spAutoFit/>
          </a:bodyPr>
          <a:lstStyle/>
          <a:p>
            <a:pPr algn="l"/>
            <a:r>
              <a:rPr sz="1200" b="1" i="0">
                <a:solidFill>
                  <a:srgbClr val="D35400"/>
                </a:solidFill>
                <a:latin typeface="Meiryo"/>
              </a:rPr>
              <a:t>🗄️ 社内DB・基幹システム</a:t>
            </a:r>
          </a:p>
        </p:txBody>
      </p:sp>
      <p:sp>
        <p:nvSpPr>
          <p:cNvPr id="23" name="TextBox 22"/>
          <p:cNvSpPr txBox="1"/>
          <p:nvPr/>
        </p:nvSpPr>
        <p:spPr>
          <a:xfrm>
            <a:off x="384048" y="5321808"/>
            <a:ext cx="3621024" cy="530352"/>
          </a:xfrm>
          <a:prstGeom prst="rect">
            <a:avLst/>
          </a:prstGeom>
          <a:noFill/>
        </p:spPr>
        <p:txBody>
          <a:bodyPr wrap="square">
            <a:spAutoFit/>
          </a:bodyPr>
          <a:lstStyle/>
          <a:p>
            <a:pPr algn="l"/>
            <a:r>
              <a:rPr sz="1000" b="0" i="0">
                <a:solidFill>
                  <a:srgbClr val="4A5568"/>
                </a:solidFill>
                <a:latin typeface="Meiryo"/>
              </a:rPr>
              <a:t>PostgreSQL / SAP</a:t>
            </a:r>
          </a:p>
        </p:txBody>
      </p:sp>
      <p:sp>
        <p:nvSpPr>
          <p:cNvPr id="24" name="TextBox 23"/>
          <p:cNvSpPr txBox="1"/>
          <p:nvPr/>
        </p:nvSpPr>
        <p:spPr>
          <a:xfrm>
            <a:off x="4114800" y="5257800"/>
            <a:ext cx="1097280" cy="365760"/>
          </a:xfrm>
          <a:prstGeom prst="rect">
            <a:avLst/>
          </a:prstGeom>
          <a:noFill/>
        </p:spPr>
        <p:txBody>
          <a:bodyPr wrap="square">
            <a:spAutoFit/>
          </a:bodyPr>
          <a:lstStyle/>
          <a:p>
            <a:pPr algn="ctr"/>
            <a:r>
              <a:rPr sz="1800" b="0" i="0">
                <a:solidFill>
                  <a:srgbClr val="0077CC"/>
                </a:solidFill>
                <a:latin typeface="Meiryo"/>
              </a:rPr>
              <a:t>⇄</a:t>
            </a:r>
          </a:p>
        </p:txBody>
      </p:sp>
      <p:sp>
        <p:nvSpPr>
          <p:cNvPr id="25" name="Rectangle 24"/>
          <p:cNvSpPr/>
          <p:nvPr/>
        </p:nvSpPr>
        <p:spPr>
          <a:xfrm>
            <a:off x="8074152" y="1234440"/>
            <a:ext cx="3840480" cy="100584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79" y="1325880"/>
            <a:ext cx="3621024" cy="320040"/>
          </a:xfrm>
          <a:prstGeom prst="rect">
            <a:avLst/>
          </a:prstGeom>
          <a:noFill/>
        </p:spPr>
        <p:txBody>
          <a:bodyPr wrap="square">
            <a:spAutoFit/>
          </a:bodyPr>
          <a:lstStyle/>
          <a:p>
            <a:pPr algn="l"/>
            <a:r>
              <a:rPr sz="1200" b="1" i="0">
                <a:solidFill>
                  <a:srgbClr val="0077CC"/>
                </a:solidFill>
                <a:latin typeface="Meiryo"/>
              </a:rPr>
              <a:t>🔎 Web検索・情報収集</a:t>
            </a:r>
          </a:p>
        </p:txBody>
      </p:sp>
      <p:sp>
        <p:nvSpPr>
          <p:cNvPr id="27" name="TextBox 26"/>
          <p:cNvSpPr txBox="1"/>
          <p:nvPr/>
        </p:nvSpPr>
        <p:spPr>
          <a:xfrm>
            <a:off x="8183879" y="1618488"/>
            <a:ext cx="3621024" cy="530352"/>
          </a:xfrm>
          <a:prstGeom prst="rect">
            <a:avLst/>
          </a:prstGeom>
          <a:noFill/>
        </p:spPr>
        <p:txBody>
          <a:bodyPr wrap="square">
            <a:spAutoFit/>
          </a:bodyPr>
          <a:lstStyle/>
          <a:p>
            <a:pPr algn="l"/>
            <a:r>
              <a:rPr sz="1000" b="0" i="0">
                <a:solidFill>
                  <a:srgbClr val="4A5568"/>
                </a:solidFill>
                <a:latin typeface="Meiryo"/>
              </a:rPr>
              <a:t>Google / Bing</a:t>
            </a:r>
          </a:p>
        </p:txBody>
      </p:sp>
      <p:sp>
        <p:nvSpPr>
          <p:cNvPr id="28" name="TextBox 27"/>
          <p:cNvSpPr txBox="1"/>
          <p:nvPr/>
        </p:nvSpPr>
        <p:spPr>
          <a:xfrm>
            <a:off x="6976872" y="1554480"/>
            <a:ext cx="1097280" cy="365760"/>
          </a:xfrm>
          <a:prstGeom prst="rect">
            <a:avLst/>
          </a:prstGeom>
          <a:noFill/>
        </p:spPr>
        <p:txBody>
          <a:bodyPr wrap="square">
            <a:spAutoFit/>
          </a:bodyPr>
          <a:lstStyle/>
          <a:p>
            <a:pPr algn="ctr"/>
            <a:r>
              <a:rPr sz="1800" b="0" i="0">
                <a:solidFill>
                  <a:srgbClr val="0077CC"/>
                </a:solidFill>
                <a:latin typeface="Meiryo"/>
              </a:rPr>
              <a:t>⇄</a:t>
            </a:r>
          </a:p>
        </p:txBody>
      </p:sp>
      <p:sp>
        <p:nvSpPr>
          <p:cNvPr id="29" name="Rectangle 28"/>
          <p:cNvSpPr/>
          <p:nvPr/>
        </p:nvSpPr>
        <p:spPr>
          <a:xfrm>
            <a:off x="8074152" y="2468880"/>
            <a:ext cx="3840480" cy="1005840"/>
          </a:xfrm>
          <a:prstGeom prst="rect">
            <a:avLst/>
          </a:prstGeom>
          <a:solidFill>
            <a:srgbClr val="E6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2560320"/>
            <a:ext cx="3621024" cy="320040"/>
          </a:xfrm>
          <a:prstGeom prst="rect">
            <a:avLst/>
          </a:prstGeom>
          <a:noFill/>
        </p:spPr>
        <p:txBody>
          <a:bodyPr wrap="square">
            <a:spAutoFit/>
          </a:bodyPr>
          <a:lstStyle/>
          <a:p>
            <a:pPr algn="l"/>
            <a:r>
              <a:rPr sz="1200" b="1" i="0">
                <a:solidFill>
                  <a:srgbClr val="0A7C42"/>
                </a:solidFill>
                <a:latin typeface="Meiryo"/>
              </a:rPr>
              <a:t>💻 開発ツール</a:t>
            </a:r>
          </a:p>
        </p:txBody>
      </p:sp>
      <p:sp>
        <p:nvSpPr>
          <p:cNvPr id="31" name="TextBox 30"/>
          <p:cNvSpPr txBox="1"/>
          <p:nvPr/>
        </p:nvSpPr>
        <p:spPr>
          <a:xfrm>
            <a:off x="8183879" y="2852928"/>
            <a:ext cx="3621024" cy="530352"/>
          </a:xfrm>
          <a:prstGeom prst="rect">
            <a:avLst/>
          </a:prstGeom>
          <a:noFill/>
        </p:spPr>
        <p:txBody>
          <a:bodyPr wrap="square">
            <a:spAutoFit/>
          </a:bodyPr>
          <a:lstStyle/>
          <a:p>
            <a:pPr algn="l"/>
            <a:r>
              <a:rPr sz="1000" b="0" i="0">
                <a:solidFill>
                  <a:srgbClr val="4A5568"/>
                </a:solidFill>
                <a:latin typeface="Meiryo"/>
              </a:rPr>
              <a:t>GitHub / CI/CD</a:t>
            </a:r>
          </a:p>
        </p:txBody>
      </p:sp>
      <p:sp>
        <p:nvSpPr>
          <p:cNvPr id="32" name="TextBox 31"/>
          <p:cNvSpPr txBox="1"/>
          <p:nvPr/>
        </p:nvSpPr>
        <p:spPr>
          <a:xfrm>
            <a:off x="6976872" y="2788920"/>
            <a:ext cx="1097280" cy="365760"/>
          </a:xfrm>
          <a:prstGeom prst="rect">
            <a:avLst/>
          </a:prstGeom>
          <a:noFill/>
        </p:spPr>
        <p:txBody>
          <a:bodyPr wrap="square">
            <a:spAutoFit/>
          </a:bodyPr>
          <a:lstStyle/>
          <a:p>
            <a:pPr algn="ctr"/>
            <a:r>
              <a:rPr sz="1800" b="0" i="0">
                <a:solidFill>
                  <a:srgbClr val="0077CC"/>
                </a:solidFill>
                <a:latin typeface="Meiryo"/>
              </a:rPr>
              <a:t>⇄</a:t>
            </a:r>
          </a:p>
        </p:txBody>
      </p:sp>
      <p:sp>
        <p:nvSpPr>
          <p:cNvPr id="33" name="Rectangle 32"/>
          <p:cNvSpPr/>
          <p:nvPr/>
        </p:nvSpPr>
        <p:spPr>
          <a:xfrm>
            <a:off x="8074152" y="3703320"/>
            <a:ext cx="3840480" cy="1005840"/>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3879" y="3794760"/>
            <a:ext cx="3621024" cy="320040"/>
          </a:xfrm>
          <a:prstGeom prst="rect">
            <a:avLst/>
          </a:prstGeom>
          <a:noFill/>
        </p:spPr>
        <p:txBody>
          <a:bodyPr wrap="square">
            <a:spAutoFit/>
          </a:bodyPr>
          <a:lstStyle/>
          <a:p>
            <a:pPr algn="l"/>
            <a:r>
              <a:rPr sz="1200" b="1" i="0">
                <a:solidFill>
                  <a:srgbClr val="D35400"/>
                </a:solidFill>
                <a:latin typeface="Meiryo"/>
              </a:rPr>
              <a:t>💳 決済・会計</a:t>
            </a:r>
          </a:p>
        </p:txBody>
      </p:sp>
      <p:sp>
        <p:nvSpPr>
          <p:cNvPr id="35" name="TextBox 34"/>
          <p:cNvSpPr txBox="1"/>
          <p:nvPr/>
        </p:nvSpPr>
        <p:spPr>
          <a:xfrm>
            <a:off x="8183879" y="4087368"/>
            <a:ext cx="3621024" cy="530352"/>
          </a:xfrm>
          <a:prstGeom prst="rect">
            <a:avLst/>
          </a:prstGeom>
          <a:noFill/>
        </p:spPr>
        <p:txBody>
          <a:bodyPr wrap="square">
            <a:spAutoFit/>
          </a:bodyPr>
          <a:lstStyle/>
          <a:p>
            <a:pPr algn="l"/>
            <a:r>
              <a:rPr sz="1000" b="0" i="0">
                <a:solidFill>
                  <a:srgbClr val="4A5568"/>
                </a:solidFill>
                <a:latin typeface="Meiryo"/>
              </a:rPr>
              <a:t>Stripe / 弥生</a:t>
            </a:r>
          </a:p>
        </p:txBody>
      </p:sp>
      <p:sp>
        <p:nvSpPr>
          <p:cNvPr id="36" name="TextBox 35"/>
          <p:cNvSpPr txBox="1"/>
          <p:nvPr/>
        </p:nvSpPr>
        <p:spPr>
          <a:xfrm>
            <a:off x="6976872" y="4023360"/>
            <a:ext cx="1097280" cy="365760"/>
          </a:xfrm>
          <a:prstGeom prst="rect">
            <a:avLst/>
          </a:prstGeom>
          <a:noFill/>
        </p:spPr>
        <p:txBody>
          <a:bodyPr wrap="square">
            <a:spAutoFit/>
          </a:bodyPr>
          <a:lstStyle/>
          <a:p>
            <a:pPr algn="ctr"/>
            <a:r>
              <a:rPr sz="1800" b="0" i="0">
                <a:solidFill>
                  <a:srgbClr val="0077CC"/>
                </a:solidFill>
                <a:latin typeface="Meiryo"/>
              </a:rPr>
              <a:t>⇄</a:t>
            </a:r>
          </a:p>
        </p:txBody>
      </p:sp>
      <p:sp>
        <p:nvSpPr>
          <p:cNvPr id="37" name="Rectangle 36"/>
          <p:cNvSpPr/>
          <p:nvPr/>
        </p:nvSpPr>
        <p:spPr>
          <a:xfrm>
            <a:off x="8074152" y="4937760"/>
            <a:ext cx="3840480" cy="1005840"/>
          </a:xfrm>
          <a:prstGeom prst="rect">
            <a:avLst/>
          </a:prstGeom>
          <a:solidFill>
            <a:srgbClr val="F0E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3879" y="5029200"/>
            <a:ext cx="3621024" cy="320040"/>
          </a:xfrm>
          <a:prstGeom prst="rect">
            <a:avLst/>
          </a:prstGeom>
          <a:noFill/>
        </p:spPr>
        <p:txBody>
          <a:bodyPr wrap="square">
            <a:spAutoFit/>
          </a:bodyPr>
          <a:lstStyle/>
          <a:p>
            <a:pPr algn="l"/>
            <a:r>
              <a:rPr sz="1200" b="1" i="0">
                <a:solidFill>
                  <a:srgbClr val="6D28D9"/>
                </a:solidFill>
                <a:latin typeface="Meiryo"/>
              </a:rPr>
              <a:t>🌐 ブラウザ自動操作</a:t>
            </a:r>
          </a:p>
        </p:txBody>
      </p:sp>
      <p:sp>
        <p:nvSpPr>
          <p:cNvPr id="39" name="TextBox 38"/>
          <p:cNvSpPr txBox="1"/>
          <p:nvPr/>
        </p:nvSpPr>
        <p:spPr>
          <a:xfrm>
            <a:off x="8183879" y="5321808"/>
            <a:ext cx="3621024" cy="530352"/>
          </a:xfrm>
          <a:prstGeom prst="rect">
            <a:avLst/>
          </a:prstGeom>
          <a:noFill/>
        </p:spPr>
        <p:txBody>
          <a:bodyPr wrap="square">
            <a:spAutoFit/>
          </a:bodyPr>
          <a:lstStyle/>
          <a:p>
            <a:pPr algn="l"/>
            <a:r>
              <a:rPr sz="1000" b="0" i="0">
                <a:solidFill>
                  <a:srgbClr val="4A5568"/>
                </a:solidFill>
                <a:latin typeface="Meiryo"/>
              </a:rPr>
              <a:t>Playwright MCP</a:t>
            </a:r>
          </a:p>
        </p:txBody>
      </p:sp>
      <p:sp>
        <p:nvSpPr>
          <p:cNvPr id="40" name="TextBox 39"/>
          <p:cNvSpPr txBox="1"/>
          <p:nvPr/>
        </p:nvSpPr>
        <p:spPr>
          <a:xfrm>
            <a:off x="6976872" y="5257800"/>
            <a:ext cx="1097280" cy="365760"/>
          </a:xfrm>
          <a:prstGeom prst="rect">
            <a:avLst/>
          </a:prstGeom>
          <a:noFill/>
        </p:spPr>
        <p:txBody>
          <a:bodyPr wrap="square">
            <a:spAutoFit/>
          </a:bodyPr>
          <a:lstStyle/>
          <a:p>
            <a:pPr algn="ctr"/>
            <a:r>
              <a:rPr sz="1800" b="0" i="0">
                <a:solidFill>
                  <a:srgbClr val="0077CC"/>
                </a:solidFill>
                <a:latin typeface="Meiryo"/>
              </a:rPr>
              <a:t>⇄</a:t>
            </a:r>
          </a:p>
        </p:txBody>
      </p:sp>
      <p:sp>
        <p:nvSpPr>
          <p:cNvPr id="41" name="Rectangle 40"/>
          <p:cNvSpPr/>
          <p:nvPr/>
        </p:nvSpPr>
        <p:spPr>
          <a:xfrm>
            <a:off x="3200400" y="6172200"/>
            <a:ext cx="5788152" cy="4572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0" y="6190488"/>
            <a:ext cx="5788152" cy="411480"/>
          </a:xfrm>
          <a:prstGeom prst="rect">
            <a:avLst/>
          </a:prstGeom>
          <a:noFill/>
        </p:spPr>
        <p:txBody>
          <a:bodyPr wrap="square">
            <a:spAutoFit/>
          </a:bodyPr>
          <a:lstStyle/>
          <a:p>
            <a:pPr algn="ctr"/>
            <a:r>
              <a:rPr sz="1100" b="1" i="0">
                <a:solidFill>
                  <a:srgbClr val="FFFFFF"/>
                </a:solidFill>
                <a:latin typeface="Meiryo"/>
              </a:rPr>
              <a:t>MCP（Model Context Protocol）= AIと外部システムをつなぐ業界標準プロトコル</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r>
              <a:rPr sz="2400" b="1" i="0">
                <a:solidFill>
                  <a:srgbClr val="FFFFFF"/>
                </a:solidFill>
                <a:latin typeface="Meiryo"/>
              </a:rPr>
              <a:t>02｜活用できる業務領域</a:t>
            </a:r>
          </a:p>
        </p:txBody>
      </p:sp>
      <p:sp>
        <p:nvSpPr>
          <p:cNvPr id="4" name="TextBox 3"/>
          <p:cNvSpPr txBox="1"/>
          <p:nvPr/>
        </p:nvSpPr>
        <p:spPr>
          <a:xfrm>
            <a:off x="457200" y="658368"/>
            <a:ext cx="10972800" cy="320040"/>
          </a:xfrm>
          <a:prstGeom prst="rect">
            <a:avLst/>
          </a:prstGeom>
          <a:noFill/>
        </p:spPr>
        <p:txBody>
          <a:bodyPr wrap="square">
            <a:spAutoFit/>
          </a:bodyPr>
          <a:lstStyle/>
          <a:p>
            <a:pPr algn="l"/>
            <a:r>
              <a:rPr sz="1200" b="0" i="0">
                <a:solidFill>
                  <a:srgbClr val="B4C8E6"/>
                </a:solidFill>
                <a:latin typeface="Meiryo"/>
              </a:rPr>
              <a:t>開発部門だけでなく、全部門の業務を変える</a:t>
            </a:r>
          </a:p>
        </p:txBody>
      </p:sp>
      <p:sp>
        <p:nvSpPr>
          <p:cNvPr id="5" name="Rectangle 4"/>
          <p:cNvSpPr/>
          <p:nvPr/>
        </p:nvSpPr>
        <p:spPr>
          <a:xfrm>
            <a:off x="274320" y="1143000"/>
            <a:ext cx="3749039" cy="192024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234440"/>
            <a:ext cx="3529583" cy="320040"/>
          </a:xfrm>
          <a:prstGeom prst="rect">
            <a:avLst/>
          </a:prstGeom>
          <a:noFill/>
        </p:spPr>
        <p:txBody>
          <a:bodyPr wrap="square">
            <a:spAutoFit/>
          </a:bodyPr>
          <a:lstStyle/>
          <a:p>
            <a:pPr algn="l"/>
            <a:r>
              <a:rPr sz="1300" b="1" i="0">
                <a:solidFill>
                  <a:srgbClr val="0077CC"/>
                </a:solidFill>
                <a:latin typeface="Meiryo"/>
              </a:rPr>
              <a:t>📝 提案・営業支援</a:t>
            </a:r>
          </a:p>
        </p:txBody>
      </p:sp>
      <p:sp>
        <p:nvSpPr>
          <p:cNvPr id="7" name="TextBox 6"/>
          <p:cNvSpPr txBox="1"/>
          <p:nvPr/>
        </p:nvSpPr>
        <p:spPr>
          <a:xfrm>
            <a:off x="384048" y="1527048"/>
            <a:ext cx="3529583" cy="1444752"/>
          </a:xfrm>
          <a:prstGeom prst="rect">
            <a:avLst/>
          </a:prstGeom>
          <a:noFill/>
        </p:spPr>
        <p:txBody>
          <a:bodyPr wrap="square">
            <a:spAutoFit/>
          </a:bodyPr>
          <a:lstStyle/>
          <a:p>
            <a:pPr algn="l"/>
            <a:r>
              <a:rPr sz="1100" b="0" i="0">
                <a:solidFill>
                  <a:srgbClr val="4A5568"/>
                </a:solidFill>
                <a:latin typeface="Meiryo"/>
              </a:rPr>
              <a:t>顧客情報・過去案件・市場データを横断収集し、提案書・見積書を自動ドラフト</a:t>
            </a:r>
          </a:p>
          <a:p>
            <a:pPr algn="l"/>
            <a:r>
              <a:rPr sz="1100" b="0" i="0">
                <a:solidFill>
                  <a:srgbClr val="4A5568"/>
                </a:solidFill>
                <a:latin typeface="Meiryo"/>
              </a:rPr>
              <a:t/>
            </a:r>
          </a:p>
          <a:p>
            <a:pPr algn="l"/>
            <a:r>
              <a:rPr sz="1100" b="0" i="0">
                <a:solidFill>
                  <a:srgbClr val="4A5568"/>
                </a:solidFill>
                <a:latin typeface="Meiryo"/>
              </a:rPr>
              <a:t>  [営業部門]</a:t>
            </a:r>
          </a:p>
        </p:txBody>
      </p:sp>
      <p:sp>
        <p:nvSpPr>
          <p:cNvPr id="8" name="Rectangle 7"/>
          <p:cNvSpPr/>
          <p:nvPr/>
        </p:nvSpPr>
        <p:spPr>
          <a:xfrm>
            <a:off x="4206240" y="1143000"/>
            <a:ext cx="3749039" cy="1920240"/>
          </a:xfrm>
          <a:prstGeom prst="rect">
            <a:avLst/>
          </a:prstGeom>
          <a:solidFill>
            <a:srgbClr val="E6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15968" y="1234440"/>
            <a:ext cx="3529583" cy="320040"/>
          </a:xfrm>
          <a:prstGeom prst="rect">
            <a:avLst/>
          </a:prstGeom>
          <a:noFill/>
        </p:spPr>
        <p:txBody>
          <a:bodyPr wrap="square">
            <a:spAutoFit/>
          </a:bodyPr>
          <a:lstStyle/>
          <a:p>
            <a:pPr algn="l"/>
            <a:r>
              <a:rPr sz="1300" b="1" i="0">
                <a:solidFill>
                  <a:srgbClr val="0A7C42"/>
                </a:solidFill>
                <a:latin typeface="Meiryo"/>
              </a:rPr>
              <a:t>💻 開発業務の自動化</a:t>
            </a:r>
          </a:p>
        </p:txBody>
      </p:sp>
      <p:sp>
        <p:nvSpPr>
          <p:cNvPr id="10" name="TextBox 9"/>
          <p:cNvSpPr txBox="1"/>
          <p:nvPr/>
        </p:nvSpPr>
        <p:spPr>
          <a:xfrm>
            <a:off x="4315968" y="1527048"/>
            <a:ext cx="3529583" cy="1444752"/>
          </a:xfrm>
          <a:prstGeom prst="rect">
            <a:avLst/>
          </a:prstGeom>
          <a:noFill/>
        </p:spPr>
        <p:txBody>
          <a:bodyPr wrap="square">
            <a:spAutoFit/>
          </a:bodyPr>
          <a:lstStyle/>
          <a:p>
            <a:pPr algn="l"/>
            <a:r>
              <a:rPr sz="1100" b="0" i="0">
                <a:solidFill>
                  <a:srgbClr val="4A5568"/>
                </a:solidFill>
                <a:latin typeface="Meiryo"/>
              </a:rPr>
              <a:t>コード生成・レビュー・テスト・ドキュメント作成を自動化。指示一つで実行</a:t>
            </a:r>
          </a:p>
          <a:p>
            <a:pPr algn="l"/>
            <a:r>
              <a:rPr sz="1100" b="0" i="0">
                <a:solidFill>
                  <a:srgbClr val="4A5568"/>
                </a:solidFill>
                <a:latin typeface="Meiryo"/>
              </a:rPr>
              <a:t/>
            </a:r>
          </a:p>
          <a:p>
            <a:pPr algn="l"/>
            <a:r>
              <a:rPr sz="1100" b="0" i="0">
                <a:solidFill>
                  <a:srgbClr val="4A5568"/>
                </a:solidFill>
                <a:latin typeface="Meiryo"/>
              </a:rPr>
              <a:t>  [開発部門]</a:t>
            </a:r>
          </a:p>
        </p:txBody>
      </p:sp>
      <p:sp>
        <p:nvSpPr>
          <p:cNvPr id="11" name="Rectangle 10"/>
          <p:cNvSpPr/>
          <p:nvPr/>
        </p:nvSpPr>
        <p:spPr>
          <a:xfrm>
            <a:off x="8138160" y="1143000"/>
            <a:ext cx="3749039" cy="1920240"/>
          </a:xfrm>
          <a:prstGeom prst="rect">
            <a:avLst/>
          </a:prstGeom>
          <a:solidFill>
            <a:srgbClr val="F0E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1234440"/>
            <a:ext cx="3529583" cy="320040"/>
          </a:xfrm>
          <a:prstGeom prst="rect">
            <a:avLst/>
          </a:prstGeom>
          <a:noFill/>
        </p:spPr>
        <p:txBody>
          <a:bodyPr wrap="square">
            <a:spAutoFit/>
          </a:bodyPr>
          <a:lstStyle/>
          <a:p>
            <a:pPr algn="l"/>
            <a:r>
              <a:rPr sz="1300" b="1" i="0">
                <a:solidFill>
                  <a:srgbClr val="6D28D9"/>
                </a:solidFill>
                <a:latin typeface="Meiryo"/>
              </a:rPr>
              <a:t>📊 報告書・議事録</a:t>
            </a:r>
          </a:p>
        </p:txBody>
      </p:sp>
      <p:sp>
        <p:nvSpPr>
          <p:cNvPr id="13" name="TextBox 12"/>
          <p:cNvSpPr txBox="1"/>
          <p:nvPr/>
        </p:nvSpPr>
        <p:spPr>
          <a:xfrm>
            <a:off x="8247888" y="1527048"/>
            <a:ext cx="3529583" cy="1444752"/>
          </a:xfrm>
          <a:prstGeom prst="rect">
            <a:avLst/>
          </a:prstGeom>
          <a:noFill/>
        </p:spPr>
        <p:txBody>
          <a:bodyPr wrap="square">
            <a:spAutoFit/>
          </a:bodyPr>
          <a:lstStyle/>
          <a:p>
            <a:pPr algn="l"/>
            <a:r>
              <a:rPr sz="1100" b="0" i="0">
                <a:solidFill>
                  <a:srgbClr val="4A5568"/>
                </a:solidFill>
                <a:latin typeface="Meiryo"/>
              </a:rPr>
              <a:t>会議メモをSlack/Notionから取得し、議事録・月次報告書を自動生成</a:t>
            </a:r>
          </a:p>
          <a:p>
            <a:pPr algn="l"/>
            <a:r>
              <a:rPr sz="1100" b="0" i="0">
                <a:solidFill>
                  <a:srgbClr val="4A5568"/>
                </a:solidFill>
                <a:latin typeface="Meiryo"/>
              </a:rPr>
              <a:t/>
            </a:r>
          </a:p>
          <a:p>
            <a:pPr algn="l"/>
            <a:r>
              <a:rPr sz="1100" b="0" i="0">
                <a:solidFill>
                  <a:srgbClr val="4A5568"/>
                </a:solidFill>
                <a:latin typeface="Meiryo"/>
              </a:rPr>
              <a:t>  [全部門]</a:t>
            </a:r>
          </a:p>
        </p:txBody>
      </p:sp>
      <p:sp>
        <p:nvSpPr>
          <p:cNvPr id="14" name="Rectangle 13"/>
          <p:cNvSpPr/>
          <p:nvPr/>
        </p:nvSpPr>
        <p:spPr>
          <a:xfrm>
            <a:off x="274320" y="3200400"/>
            <a:ext cx="3749039" cy="1920240"/>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3291840"/>
            <a:ext cx="3529583" cy="320040"/>
          </a:xfrm>
          <a:prstGeom prst="rect">
            <a:avLst/>
          </a:prstGeom>
          <a:noFill/>
        </p:spPr>
        <p:txBody>
          <a:bodyPr wrap="square">
            <a:spAutoFit/>
          </a:bodyPr>
          <a:lstStyle/>
          <a:p>
            <a:pPr algn="l"/>
            <a:r>
              <a:rPr sz="1300" b="1" i="0">
                <a:solidFill>
                  <a:srgbClr val="D35400"/>
                </a:solidFill>
                <a:latin typeface="Meiryo"/>
              </a:rPr>
              <a:t>🔄 業務フロー自動化</a:t>
            </a:r>
          </a:p>
        </p:txBody>
      </p:sp>
      <p:sp>
        <p:nvSpPr>
          <p:cNvPr id="16" name="TextBox 15"/>
          <p:cNvSpPr txBox="1"/>
          <p:nvPr/>
        </p:nvSpPr>
        <p:spPr>
          <a:xfrm>
            <a:off x="384048" y="3584448"/>
            <a:ext cx="3529583" cy="1444752"/>
          </a:xfrm>
          <a:prstGeom prst="rect">
            <a:avLst/>
          </a:prstGeom>
          <a:noFill/>
        </p:spPr>
        <p:txBody>
          <a:bodyPr wrap="square">
            <a:spAutoFit/>
          </a:bodyPr>
          <a:lstStyle/>
          <a:p>
            <a:pPr algn="l"/>
            <a:r>
              <a:rPr sz="1100" b="0" i="0">
                <a:solidFill>
                  <a:srgbClr val="4A5568"/>
                </a:solidFill>
                <a:latin typeface="Meiryo"/>
              </a:rPr>
              <a:t>申請→承認→通知→記録の一連フローをシステム横断で自動実行・無人化</a:t>
            </a:r>
          </a:p>
          <a:p>
            <a:pPr algn="l"/>
            <a:r>
              <a:rPr sz="1100" b="0" i="0">
                <a:solidFill>
                  <a:srgbClr val="4A5568"/>
                </a:solidFill>
                <a:latin typeface="Meiryo"/>
              </a:rPr>
              <a:t/>
            </a:r>
          </a:p>
          <a:p>
            <a:pPr algn="l"/>
            <a:r>
              <a:rPr sz="1100" b="0" i="0">
                <a:solidFill>
                  <a:srgbClr val="4A5568"/>
                </a:solidFill>
                <a:latin typeface="Meiryo"/>
              </a:rPr>
              <a:t>  [管理部門]</a:t>
            </a:r>
          </a:p>
        </p:txBody>
      </p:sp>
      <p:sp>
        <p:nvSpPr>
          <p:cNvPr id="17" name="Rectangle 16"/>
          <p:cNvSpPr/>
          <p:nvPr/>
        </p:nvSpPr>
        <p:spPr>
          <a:xfrm>
            <a:off x="4206240" y="3200400"/>
            <a:ext cx="3749039" cy="1920240"/>
          </a:xfrm>
          <a:prstGeom prst="rect">
            <a:avLst/>
          </a:prstGeom>
          <a:solidFill>
            <a:srgbClr val="F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15968" y="3291840"/>
            <a:ext cx="3529583" cy="320040"/>
          </a:xfrm>
          <a:prstGeom prst="rect">
            <a:avLst/>
          </a:prstGeom>
          <a:noFill/>
        </p:spPr>
        <p:txBody>
          <a:bodyPr wrap="square">
            <a:spAutoFit/>
          </a:bodyPr>
          <a:lstStyle/>
          <a:p>
            <a:pPr algn="l"/>
            <a:r>
              <a:rPr sz="1300" b="1" i="0">
                <a:solidFill>
                  <a:srgbClr val="C0392B"/>
                </a:solidFill>
                <a:latin typeface="Meiryo"/>
              </a:rPr>
              <a:t>🔍 情報収集・競合分析</a:t>
            </a:r>
          </a:p>
        </p:txBody>
      </p:sp>
      <p:sp>
        <p:nvSpPr>
          <p:cNvPr id="19" name="TextBox 18"/>
          <p:cNvSpPr txBox="1"/>
          <p:nvPr/>
        </p:nvSpPr>
        <p:spPr>
          <a:xfrm>
            <a:off x="4315968" y="3584448"/>
            <a:ext cx="3529583" cy="1444752"/>
          </a:xfrm>
          <a:prstGeom prst="rect">
            <a:avLst/>
          </a:prstGeom>
          <a:noFill/>
        </p:spPr>
        <p:txBody>
          <a:bodyPr wrap="square">
            <a:spAutoFit/>
          </a:bodyPr>
          <a:lstStyle/>
          <a:p>
            <a:pPr algn="l"/>
            <a:r>
              <a:rPr sz="1100" b="0" i="0">
                <a:solidFill>
                  <a:srgbClr val="4A5568"/>
                </a:solidFill>
                <a:latin typeface="Meiryo"/>
              </a:rPr>
              <a:t>Web・業界サイトを自律的に収集・整理し、リサーチレポートを自動生成</a:t>
            </a:r>
          </a:p>
          <a:p>
            <a:pPr algn="l"/>
            <a:r>
              <a:rPr sz="1100" b="0" i="0">
                <a:solidFill>
                  <a:srgbClr val="4A5568"/>
                </a:solidFill>
                <a:latin typeface="Meiryo"/>
              </a:rPr>
              <a:t/>
            </a:r>
          </a:p>
          <a:p>
            <a:pPr algn="l"/>
            <a:r>
              <a:rPr sz="1100" b="0" i="0">
                <a:solidFill>
                  <a:srgbClr val="4A5568"/>
                </a:solidFill>
                <a:latin typeface="Meiryo"/>
              </a:rPr>
              <a:t>  [企画・マーケ]</a:t>
            </a:r>
          </a:p>
        </p:txBody>
      </p:sp>
      <p:sp>
        <p:nvSpPr>
          <p:cNvPr id="20" name="Rectangle 19"/>
          <p:cNvSpPr/>
          <p:nvPr/>
        </p:nvSpPr>
        <p:spPr>
          <a:xfrm>
            <a:off x="8138160" y="3200400"/>
            <a:ext cx="3749039" cy="19202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3291840"/>
            <a:ext cx="3529583" cy="320040"/>
          </a:xfrm>
          <a:prstGeom prst="rect">
            <a:avLst/>
          </a:prstGeom>
          <a:noFill/>
        </p:spPr>
        <p:txBody>
          <a:bodyPr wrap="square">
            <a:spAutoFit/>
          </a:bodyPr>
          <a:lstStyle/>
          <a:p>
            <a:pPr algn="l"/>
            <a:r>
              <a:rPr sz="1300" b="1" i="0">
                <a:solidFill>
                  <a:srgbClr val="1E3A5F"/>
                </a:solidFill>
                <a:latin typeface="Meiryo"/>
              </a:rPr>
              <a:t>🤝 顧客向けAI導入支援</a:t>
            </a:r>
          </a:p>
        </p:txBody>
      </p:sp>
      <p:sp>
        <p:nvSpPr>
          <p:cNvPr id="22" name="TextBox 21"/>
          <p:cNvSpPr txBox="1"/>
          <p:nvPr/>
        </p:nvSpPr>
        <p:spPr>
          <a:xfrm>
            <a:off x="8247888" y="3584448"/>
            <a:ext cx="3529583" cy="1444752"/>
          </a:xfrm>
          <a:prstGeom prst="rect">
            <a:avLst/>
          </a:prstGeom>
          <a:noFill/>
        </p:spPr>
        <p:txBody>
          <a:bodyPr wrap="square">
            <a:spAutoFit/>
          </a:bodyPr>
          <a:lstStyle/>
          <a:p>
            <a:pPr algn="l"/>
            <a:r>
              <a:rPr sz="1100" b="0" i="0">
                <a:solidFill>
                  <a:srgbClr val="4A5568"/>
                </a:solidFill>
                <a:latin typeface="Meiryo"/>
              </a:rPr>
              <a:t>自社導入ノウハウを活かしAIエージェント導入支援を新サービスとして提供</a:t>
            </a:r>
          </a:p>
          <a:p>
            <a:pPr algn="l"/>
            <a:r>
              <a:rPr sz="1100" b="0" i="0">
                <a:solidFill>
                  <a:srgbClr val="4A5568"/>
                </a:solidFill>
                <a:latin typeface="Meiryo"/>
              </a:rPr>
              <a:t/>
            </a:r>
          </a:p>
          <a:p>
            <a:pPr algn="l"/>
            <a:r>
              <a:rPr sz="1100" b="0" i="0">
                <a:solidFill>
                  <a:srgbClr val="4A5568"/>
                </a:solidFill>
                <a:latin typeface="Meiryo"/>
              </a:rPr>
              <a:t>  [新規事業]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r>
              <a:rPr sz="2400" b="1" i="0">
                <a:solidFill>
                  <a:srgbClr val="FFFFFF"/>
                </a:solidFill>
                <a:latin typeface="Meiryo"/>
              </a:rPr>
              <a:t>03｜国内企業の導入実績（2025〜2026年）</a:t>
            </a:r>
          </a:p>
        </p:txBody>
      </p:sp>
      <p:sp>
        <p:nvSpPr>
          <p:cNvPr id="4" name="TextBox 3"/>
          <p:cNvSpPr txBox="1"/>
          <p:nvPr/>
        </p:nvSpPr>
        <p:spPr>
          <a:xfrm>
            <a:off x="457200" y="658368"/>
            <a:ext cx="10972800" cy="320040"/>
          </a:xfrm>
          <a:prstGeom prst="rect">
            <a:avLst/>
          </a:prstGeom>
          <a:noFill/>
        </p:spPr>
        <p:txBody>
          <a:bodyPr wrap="square">
            <a:spAutoFit/>
          </a:bodyPr>
          <a:lstStyle/>
          <a:p>
            <a:pPr algn="l"/>
            <a:r>
              <a:rPr sz="1200" b="0" i="0">
                <a:solidFill>
                  <a:srgbClr val="B4C8E6"/>
                </a:solidFill>
                <a:latin typeface="Meiryo"/>
              </a:rPr>
              <a:t>コード以外の業務でも大きな成果が出ている</a:t>
            </a:r>
          </a:p>
        </p:txBody>
      </p:sp>
      <p:sp>
        <p:nvSpPr>
          <p:cNvPr id="5" name="Rectangle 4"/>
          <p:cNvSpPr/>
          <p:nvPr/>
        </p:nvSpPr>
        <p:spPr>
          <a:xfrm>
            <a:off x="274320" y="1143000"/>
            <a:ext cx="3749039" cy="5303520"/>
          </a:xfrm>
          <a:prstGeom prst="rect">
            <a:avLst/>
          </a:prstGeom>
          <a:solidFill>
            <a:srgbClr val="F3F4F6"/>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234440"/>
            <a:ext cx="3474720" cy="365760"/>
          </a:xfrm>
          <a:prstGeom prst="rect">
            <a:avLst/>
          </a:prstGeom>
          <a:noFill/>
        </p:spPr>
        <p:txBody>
          <a:bodyPr wrap="square">
            <a:spAutoFit/>
          </a:bodyPr>
          <a:lstStyle/>
          <a:p>
            <a:pPr algn="l"/>
            <a:r>
              <a:rPr sz="1000" b="1" i="0">
                <a:solidFill>
                  <a:srgbClr val="4A5568"/>
                </a:solidFill>
                <a:latin typeface="Meiryo"/>
              </a:rPr>
              <a:t>Findy（採用プラットフォーム）</a:t>
            </a:r>
          </a:p>
        </p:txBody>
      </p:sp>
      <p:sp>
        <p:nvSpPr>
          <p:cNvPr id="7" name="TextBox 6"/>
          <p:cNvSpPr txBox="1"/>
          <p:nvPr/>
        </p:nvSpPr>
        <p:spPr>
          <a:xfrm>
            <a:off x="411479" y="1645920"/>
            <a:ext cx="3474720" cy="822960"/>
          </a:xfrm>
          <a:prstGeom prst="rect">
            <a:avLst/>
          </a:prstGeom>
          <a:noFill/>
        </p:spPr>
        <p:txBody>
          <a:bodyPr wrap="square">
            <a:spAutoFit/>
          </a:bodyPr>
          <a:lstStyle/>
          <a:p>
            <a:pPr algn="l"/>
            <a:r>
              <a:rPr sz="2800" b="1" i="0">
                <a:solidFill>
                  <a:srgbClr val="2A5298"/>
                </a:solidFill>
                <a:latin typeface="Meiryo"/>
              </a:rPr>
              <a:t>1時間 → 5分</a:t>
            </a:r>
          </a:p>
        </p:txBody>
      </p:sp>
      <p:sp>
        <p:nvSpPr>
          <p:cNvPr id="8" name="TextBox 7"/>
          <p:cNvSpPr txBox="1"/>
          <p:nvPr/>
        </p:nvSpPr>
        <p:spPr>
          <a:xfrm>
            <a:off x="411479" y="2423160"/>
            <a:ext cx="3474720" cy="365760"/>
          </a:xfrm>
          <a:prstGeom prst="rect">
            <a:avLst/>
          </a:prstGeom>
          <a:noFill/>
        </p:spPr>
        <p:txBody>
          <a:bodyPr wrap="square">
            <a:spAutoFit/>
          </a:bodyPr>
          <a:lstStyle/>
          <a:p>
            <a:pPr algn="l"/>
            <a:r>
              <a:rPr sz="1200" b="0" i="0">
                <a:solidFill>
                  <a:srgbClr val="4A5568"/>
                </a:solidFill>
                <a:latin typeface="Meiryo"/>
              </a:rPr>
              <a:t>求人票作成時間の短縮</a:t>
            </a:r>
          </a:p>
        </p:txBody>
      </p:sp>
      <p:sp>
        <p:nvSpPr>
          <p:cNvPr id="9" name="Rectangle 8"/>
          <p:cNvSpPr/>
          <p:nvPr/>
        </p:nvSpPr>
        <p:spPr>
          <a:xfrm>
            <a:off x="411479" y="2788920"/>
            <a:ext cx="3474720" cy="18288"/>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2880360"/>
            <a:ext cx="3474720" cy="2194560"/>
          </a:xfrm>
          <a:prstGeom prst="rect">
            <a:avLst/>
          </a:prstGeom>
          <a:noFill/>
        </p:spPr>
        <p:txBody>
          <a:bodyPr wrap="square">
            <a:spAutoFit/>
          </a:bodyPr>
          <a:lstStyle/>
          <a:p>
            <a:pPr algn="l"/>
            <a:r>
              <a:rPr sz="1100" b="0" i="0">
                <a:solidFill>
                  <a:srgbClr val="4A5568"/>
                </a:solidFill>
                <a:latin typeface="Meiryo"/>
              </a:rPr>
              <a:t>Notion MCPで企業情報を自動取得し、求人票ドラフトを自動生成。</a:t>
            </a:r>
          </a:p>
          <a:p>
            <a:pPr algn="l"/>
            <a:r>
              <a:rPr sz="1100" b="0" i="0">
                <a:solidFill>
                  <a:srgbClr val="4A5568"/>
                </a:solidFill>
                <a:latin typeface="Meiryo"/>
              </a:rPr>
              <a:t>エンジニア以外のビジネス職が独立して利用できるカスタムコマンドとして実装。品質のばらつきも解消。</a:t>
            </a:r>
          </a:p>
        </p:txBody>
      </p:sp>
      <p:sp>
        <p:nvSpPr>
          <p:cNvPr id="11" name="Rectangle 10"/>
          <p:cNvSpPr/>
          <p:nvPr/>
        </p:nvSpPr>
        <p:spPr>
          <a:xfrm>
            <a:off x="411479" y="6035040"/>
            <a:ext cx="3474720" cy="320040"/>
          </a:xfrm>
          <a:prstGeom prst="rect">
            <a:avLst/>
          </a:prstGeom>
          <a:solidFill>
            <a:srgbClr val="FFFFFF"/>
          </a:solidFill>
          <a:ln w="12700">
            <a:solidFill>
              <a:srgbClr val="C8D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053328"/>
            <a:ext cx="3383280" cy="292608"/>
          </a:xfrm>
          <a:prstGeom prst="rect">
            <a:avLst/>
          </a:prstGeom>
          <a:noFill/>
        </p:spPr>
        <p:txBody>
          <a:bodyPr wrap="square">
            <a:spAutoFit/>
          </a:bodyPr>
          <a:lstStyle/>
          <a:p>
            <a:pPr algn="l"/>
            <a:r>
              <a:rPr sz="1000" b="1" i="0">
                <a:solidFill>
                  <a:srgbClr val="2A5298"/>
                </a:solidFill>
                <a:latin typeface="Meiryo"/>
              </a:rPr>
              <a:t>🔧 Notion MCP</a:t>
            </a:r>
          </a:p>
        </p:txBody>
      </p:sp>
      <p:sp>
        <p:nvSpPr>
          <p:cNvPr id="13" name="Rectangle 12"/>
          <p:cNvSpPr/>
          <p:nvPr/>
        </p:nvSpPr>
        <p:spPr>
          <a:xfrm>
            <a:off x="4251959" y="1143000"/>
            <a:ext cx="3749039" cy="5303520"/>
          </a:xfrm>
          <a:prstGeom prst="rect">
            <a:avLst/>
          </a:prstGeom>
          <a:solidFill>
            <a:srgbClr val="F3F4F6"/>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1234440"/>
            <a:ext cx="3474720" cy="365760"/>
          </a:xfrm>
          <a:prstGeom prst="rect">
            <a:avLst/>
          </a:prstGeom>
          <a:noFill/>
        </p:spPr>
        <p:txBody>
          <a:bodyPr wrap="square">
            <a:spAutoFit/>
          </a:bodyPr>
          <a:lstStyle/>
          <a:p>
            <a:pPr algn="l"/>
            <a:r>
              <a:rPr sz="1000" b="1" i="0">
                <a:solidFill>
                  <a:srgbClr val="4A5568"/>
                </a:solidFill>
                <a:latin typeface="Meiryo"/>
              </a:rPr>
              <a:t>LINEヤフー</a:t>
            </a:r>
          </a:p>
        </p:txBody>
      </p:sp>
      <p:sp>
        <p:nvSpPr>
          <p:cNvPr id="15" name="TextBox 14"/>
          <p:cNvSpPr txBox="1"/>
          <p:nvPr/>
        </p:nvSpPr>
        <p:spPr>
          <a:xfrm>
            <a:off x="4389120" y="1645920"/>
            <a:ext cx="3474720" cy="822960"/>
          </a:xfrm>
          <a:prstGeom prst="rect">
            <a:avLst/>
          </a:prstGeom>
          <a:noFill/>
        </p:spPr>
        <p:txBody>
          <a:bodyPr wrap="square">
            <a:spAutoFit/>
          </a:bodyPr>
          <a:lstStyle/>
          <a:p>
            <a:pPr algn="l"/>
            <a:r>
              <a:rPr sz="2800" b="1" i="0">
                <a:solidFill>
                  <a:srgbClr val="2A5298"/>
                </a:solidFill>
                <a:latin typeface="Meiryo"/>
              </a:rPr>
              <a:t>週6時間削減</a:t>
            </a:r>
          </a:p>
        </p:txBody>
      </p:sp>
      <p:sp>
        <p:nvSpPr>
          <p:cNvPr id="16" name="TextBox 15"/>
          <p:cNvSpPr txBox="1"/>
          <p:nvPr/>
        </p:nvSpPr>
        <p:spPr>
          <a:xfrm>
            <a:off x="4389120" y="2423160"/>
            <a:ext cx="3474720" cy="365760"/>
          </a:xfrm>
          <a:prstGeom prst="rect">
            <a:avLst/>
          </a:prstGeom>
          <a:noFill/>
        </p:spPr>
        <p:txBody>
          <a:bodyPr wrap="square">
            <a:spAutoFit/>
          </a:bodyPr>
          <a:lstStyle/>
          <a:p>
            <a:pPr algn="l"/>
            <a:r>
              <a:rPr sz="1200" b="0" i="0">
                <a:solidFill>
                  <a:srgbClr val="4A5568"/>
                </a:solidFill>
                <a:latin typeface="Meiryo"/>
              </a:rPr>
              <a:t>レビュー準備の工数削減</a:t>
            </a:r>
          </a:p>
        </p:txBody>
      </p:sp>
      <p:sp>
        <p:nvSpPr>
          <p:cNvPr id="17" name="Rectangle 16"/>
          <p:cNvSpPr/>
          <p:nvPr/>
        </p:nvSpPr>
        <p:spPr>
          <a:xfrm>
            <a:off x="4389120" y="2788920"/>
            <a:ext cx="3474720" cy="18288"/>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2880360"/>
            <a:ext cx="3474720" cy="2194560"/>
          </a:xfrm>
          <a:prstGeom prst="rect">
            <a:avLst/>
          </a:prstGeom>
          <a:noFill/>
        </p:spPr>
        <p:txBody>
          <a:bodyPr wrap="square">
            <a:spAutoFit/>
          </a:bodyPr>
          <a:lstStyle/>
          <a:p>
            <a:pPr algn="l"/>
            <a:r>
              <a:rPr sz="1100" b="0" i="0">
                <a:solidFill>
                  <a:srgbClr val="4A5568"/>
                </a:solidFill>
                <a:latin typeface="Meiryo"/>
              </a:rPr>
              <a:t>GitHub MCP・Jira MCP・Confluence MCPを連携。</a:t>
            </a:r>
          </a:p>
          <a:p>
            <a:pPr algn="l"/>
            <a:r>
              <a:rPr sz="1100" b="0" i="0">
                <a:solidFill>
                  <a:srgbClr val="4A5568"/>
                </a:solidFill>
                <a:latin typeface="Meiryo"/>
              </a:rPr>
              <a:t>PRレビューに必要な設計書・企画書・関連タスクの情報収集を全自動化。手作業ゼロでレビュー準備が完結。</a:t>
            </a:r>
          </a:p>
        </p:txBody>
      </p:sp>
      <p:sp>
        <p:nvSpPr>
          <p:cNvPr id="19" name="Rectangle 18"/>
          <p:cNvSpPr/>
          <p:nvPr/>
        </p:nvSpPr>
        <p:spPr>
          <a:xfrm>
            <a:off x="4389120" y="6035040"/>
            <a:ext cx="3474720" cy="320040"/>
          </a:xfrm>
          <a:prstGeom prst="rect">
            <a:avLst/>
          </a:prstGeom>
          <a:solidFill>
            <a:srgbClr val="FFFFFF"/>
          </a:solidFill>
          <a:ln w="12700">
            <a:solidFill>
              <a:srgbClr val="C8D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6053328"/>
            <a:ext cx="3383280" cy="292608"/>
          </a:xfrm>
          <a:prstGeom prst="rect">
            <a:avLst/>
          </a:prstGeom>
          <a:noFill/>
        </p:spPr>
        <p:txBody>
          <a:bodyPr wrap="square">
            <a:spAutoFit/>
          </a:bodyPr>
          <a:lstStyle/>
          <a:p>
            <a:pPr algn="l"/>
            <a:r>
              <a:rPr sz="1000" b="1" i="0">
                <a:solidFill>
                  <a:srgbClr val="2A5298"/>
                </a:solidFill>
                <a:latin typeface="Meiryo"/>
              </a:rPr>
              <a:t>🔧 GitHub / Jira / Confluence MCP</a:t>
            </a:r>
          </a:p>
        </p:txBody>
      </p:sp>
      <p:sp>
        <p:nvSpPr>
          <p:cNvPr id="21" name="Rectangle 20"/>
          <p:cNvSpPr/>
          <p:nvPr/>
        </p:nvSpPr>
        <p:spPr>
          <a:xfrm>
            <a:off x="8229600" y="1143000"/>
            <a:ext cx="3749039" cy="5303520"/>
          </a:xfrm>
          <a:prstGeom prst="rect">
            <a:avLst/>
          </a:prstGeom>
          <a:solidFill>
            <a:srgbClr val="F3F4F6"/>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234440"/>
            <a:ext cx="3474720" cy="365760"/>
          </a:xfrm>
          <a:prstGeom prst="rect">
            <a:avLst/>
          </a:prstGeom>
          <a:noFill/>
        </p:spPr>
        <p:txBody>
          <a:bodyPr wrap="square">
            <a:spAutoFit/>
          </a:bodyPr>
          <a:lstStyle/>
          <a:p>
            <a:pPr algn="l"/>
            <a:r>
              <a:rPr sz="1000" b="1" i="0">
                <a:solidFill>
                  <a:srgbClr val="4A5568"/>
                </a:solidFill>
                <a:latin typeface="Meiryo"/>
              </a:rPr>
              <a:t>Room8（中小企業DX事例）</a:t>
            </a:r>
          </a:p>
        </p:txBody>
      </p:sp>
      <p:sp>
        <p:nvSpPr>
          <p:cNvPr id="23" name="TextBox 22"/>
          <p:cNvSpPr txBox="1"/>
          <p:nvPr/>
        </p:nvSpPr>
        <p:spPr>
          <a:xfrm>
            <a:off x="8366760" y="1645920"/>
            <a:ext cx="3474720" cy="822960"/>
          </a:xfrm>
          <a:prstGeom prst="rect">
            <a:avLst/>
          </a:prstGeom>
          <a:noFill/>
        </p:spPr>
        <p:txBody>
          <a:bodyPr wrap="square">
            <a:spAutoFit/>
          </a:bodyPr>
          <a:lstStyle/>
          <a:p>
            <a:pPr algn="l"/>
            <a:r>
              <a:rPr sz="2800" b="1" i="0">
                <a:solidFill>
                  <a:srgbClr val="2A5298"/>
                </a:solidFill>
                <a:latin typeface="Meiryo"/>
              </a:rPr>
              <a:t>150万円 → 700円</a:t>
            </a:r>
          </a:p>
        </p:txBody>
      </p:sp>
      <p:sp>
        <p:nvSpPr>
          <p:cNvPr id="24" name="TextBox 23"/>
          <p:cNvSpPr txBox="1"/>
          <p:nvPr/>
        </p:nvSpPr>
        <p:spPr>
          <a:xfrm>
            <a:off x="8366760" y="2423160"/>
            <a:ext cx="3474720" cy="365760"/>
          </a:xfrm>
          <a:prstGeom prst="rect">
            <a:avLst/>
          </a:prstGeom>
          <a:noFill/>
        </p:spPr>
        <p:txBody>
          <a:bodyPr wrap="square">
            <a:spAutoFit/>
          </a:bodyPr>
          <a:lstStyle/>
          <a:p>
            <a:pPr algn="l"/>
            <a:r>
              <a:rPr sz="1200" b="0" i="0">
                <a:solidFill>
                  <a:srgbClr val="4A5568"/>
                </a:solidFill>
                <a:latin typeface="Meiryo"/>
              </a:rPr>
              <a:t>業務自動化の実現コスト</a:t>
            </a:r>
          </a:p>
        </p:txBody>
      </p:sp>
      <p:sp>
        <p:nvSpPr>
          <p:cNvPr id="25" name="Rectangle 24"/>
          <p:cNvSpPr/>
          <p:nvPr/>
        </p:nvSpPr>
        <p:spPr>
          <a:xfrm>
            <a:off x="8366760" y="2788920"/>
            <a:ext cx="3474720" cy="18288"/>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60" y="2880360"/>
            <a:ext cx="3474720" cy="2194560"/>
          </a:xfrm>
          <a:prstGeom prst="rect">
            <a:avLst/>
          </a:prstGeom>
          <a:noFill/>
        </p:spPr>
        <p:txBody>
          <a:bodyPr wrap="square">
            <a:spAutoFit/>
          </a:bodyPr>
          <a:lstStyle/>
          <a:p>
            <a:pPr algn="l"/>
            <a:r>
              <a:rPr sz="1100" b="0" i="0">
                <a:solidFill>
                  <a:srgbClr val="4A5568"/>
                </a:solidFill>
                <a:latin typeface="Meiryo"/>
              </a:rPr>
              <a:t>申込→決済→サブスク設定→入金確認までの業務フローをClaude Code × Stripe APIで完全無人化。</a:t>
            </a:r>
          </a:p>
          <a:p>
            <a:pPr algn="l"/>
            <a:r>
              <a:rPr sz="1100" b="0" i="0">
                <a:solidFill>
                  <a:srgbClr val="4A5568"/>
                </a:solidFill>
                <a:latin typeface="Meiryo"/>
              </a:rPr>
              <a:t>月額500円のVPS上で運用し、従来150万円の開発コストを大幅削減。</a:t>
            </a:r>
          </a:p>
        </p:txBody>
      </p:sp>
      <p:sp>
        <p:nvSpPr>
          <p:cNvPr id="27" name="Rectangle 26"/>
          <p:cNvSpPr/>
          <p:nvPr/>
        </p:nvSpPr>
        <p:spPr>
          <a:xfrm>
            <a:off x="8366760" y="6035040"/>
            <a:ext cx="3474720" cy="320040"/>
          </a:xfrm>
          <a:prstGeom prst="rect">
            <a:avLst/>
          </a:prstGeom>
          <a:solidFill>
            <a:srgbClr val="FFFFFF"/>
          </a:solidFill>
          <a:ln w="12700">
            <a:solidFill>
              <a:srgbClr val="C8D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6053328"/>
            <a:ext cx="3383280" cy="292608"/>
          </a:xfrm>
          <a:prstGeom prst="rect">
            <a:avLst/>
          </a:prstGeom>
          <a:noFill/>
        </p:spPr>
        <p:txBody>
          <a:bodyPr wrap="square">
            <a:spAutoFit/>
          </a:bodyPr>
          <a:lstStyle/>
          <a:p>
            <a:pPr algn="l"/>
            <a:r>
              <a:rPr sz="1000" b="1" i="0">
                <a:solidFill>
                  <a:srgbClr val="2A5298"/>
                </a:solidFill>
                <a:latin typeface="Meiryo"/>
              </a:rPr>
              <a:t>🔧 Stripe API MCP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r>
              <a:rPr sz="2400" b="1" i="0">
                <a:solidFill>
                  <a:srgbClr val="FFFFFF"/>
                </a:solidFill>
                <a:latin typeface="Meiryo"/>
              </a:rPr>
              <a:t>04｜メリット・デメリット</a:t>
            </a:r>
          </a:p>
        </p:txBody>
      </p:sp>
      <p:sp>
        <p:nvSpPr>
          <p:cNvPr id="4" name="Rectangle 3"/>
          <p:cNvSpPr/>
          <p:nvPr/>
        </p:nvSpPr>
        <p:spPr>
          <a:xfrm>
            <a:off x="274320" y="1097280"/>
            <a:ext cx="5669280" cy="502920"/>
          </a:xfrm>
          <a:prstGeom prst="rect">
            <a:avLst/>
          </a:prstGeom>
          <a:solidFill>
            <a:srgbClr val="0A7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15568"/>
            <a:ext cx="5486400" cy="457200"/>
          </a:xfrm>
          <a:prstGeom prst="rect">
            <a:avLst/>
          </a:prstGeom>
          <a:noFill/>
        </p:spPr>
        <p:txBody>
          <a:bodyPr wrap="square">
            <a:spAutoFit/>
          </a:bodyPr>
          <a:lstStyle/>
          <a:p>
            <a:pPr algn="l"/>
            <a:r>
              <a:rPr sz="1400" b="1" i="0">
                <a:solidFill>
                  <a:srgbClr val="FFFFFF"/>
                </a:solidFill>
                <a:latin typeface="Meiryo"/>
              </a:rPr>
              <a:t>✅  メリット（導入効果）</a:t>
            </a:r>
          </a:p>
        </p:txBody>
      </p:sp>
      <p:sp>
        <p:nvSpPr>
          <p:cNvPr id="6" name="Rectangle 5"/>
          <p:cNvSpPr/>
          <p:nvPr/>
        </p:nvSpPr>
        <p:spPr>
          <a:xfrm>
            <a:off x="274320" y="1691640"/>
            <a:ext cx="5669280" cy="868680"/>
          </a:xfrm>
          <a:prstGeom prst="rect">
            <a:avLst/>
          </a:prstGeom>
          <a:solidFill>
            <a:srgbClr val="E6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783080"/>
            <a:ext cx="5449824" cy="320040"/>
          </a:xfrm>
          <a:prstGeom prst="rect">
            <a:avLst/>
          </a:prstGeom>
          <a:noFill/>
        </p:spPr>
        <p:txBody>
          <a:bodyPr wrap="square">
            <a:spAutoFit/>
          </a:bodyPr>
          <a:lstStyle/>
          <a:p>
            <a:pPr algn="l"/>
            <a:r>
              <a:rPr sz="1200" b="1" i="0">
                <a:solidFill>
                  <a:srgbClr val="0A7C42"/>
                </a:solidFill>
                <a:latin typeface="Meiryo"/>
              </a:rPr>
              <a:t>▶ 全業務部門の生産性向上</a:t>
            </a:r>
          </a:p>
        </p:txBody>
      </p:sp>
      <p:sp>
        <p:nvSpPr>
          <p:cNvPr id="8" name="TextBox 7"/>
          <p:cNvSpPr txBox="1"/>
          <p:nvPr/>
        </p:nvSpPr>
        <p:spPr>
          <a:xfrm>
            <a:off x="384048" y="2075688"/>
            <a:ext cx="5449824" cy="393191"/>
          </a:xfrm>
          <a:prstGeom prst="rect">
            <a:avLst/>
          </a:prstGeom>
          <a:noFill/>
        </p:spPr>
        <p:txBody>
          <a:bodyPr wrap="square">
            <a:spAutoFit/>
          </a:bodyPr>
          <a:lstStyle/>
          <a:p>
            <a:pPr algn="l"/>
            <a:r>
              <a:rPr sz="1000" b="0" i="0">
                <a:solidFill>
                  <a:srgbClr val="4A5568"/>
                </a:solidFill>
                <a:latin typeface="Meiryo"/>
              </a:rPr>
              <a:t>開発・営業・管理・企画を問わず対象。定型業務・情報収集・文書作成をAIが代替</a:t>
            </a:r>
          </a:p>
        </p:txBody>
      </p:sp>
      <p:sp>
        <p:nvSpPr>
          <p:cNvPr id="9" name="Rectangle 8"/>
          <p:cNvSpPr/>
          <p:nvPr/>
        </p:nvSpPr>
        <p:spPr>
          <a:xfrm>
            <a:off x="274320" y="2651760"/>
            <a:ext cx="5669280" cy="868680"/>
          </a:xfrm>
          <a:prstGeom prst="rect">
            <a:avLst/>
          </a:prstGeom>
          <a:solidFill>
            <a:srgbClr val="E6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2743200"/>
            <a:ext cx="5449824" cy="320040"/>
          </a:xfrm>
          <a:prstGeom prst="rect">
            <a:avLst/>
          </a:prstGeom>
          <a:noFill/>
        </p:spPr>
        <p:txBody>
          <a:bodyPr wrap="square">
            <a:spAutoFit/>
          </a:bodyPr>
          <a:lstStyle/>
          <a:p>
            <a:pPr algn="l"/>
            <a:r>
              <a:rPr sz="1200" b="1" i="0">
                <a:solidFill>
                  <a:srgbClr val="0A7C42"/>
                </a:solidFill>
                <a:latin typeface="Meiryo"/>
              </a:rPr>
              <a:t>▶ 既存システムとの即時連携</a:t>
            </a:r>
          </a:p>
        </p:txBody>
      </p:sp>
      <p:sp>
        <p:nvSpPr>
          <p:cNvPr id="11" name="TextBox 10"/>
          <p:cNvSpPr txBox="1"/>
          <p:nvPr/>
        </p:nvSpPr>
        <p:spPr>
          <a:xfrm>
            <a:off x="384048" y="3035808"/>
            <a:ext cx="5449824" cy="393191"/>
          </a:xfrm>
          <a:prstGeom prst="rect">
            <a:avLst/>
          </a:prstGeom>
          <a:noFill/>
        </p:spPr>
        <p:txBody>
          <a:bodyPr wrap="square">
            <a:spAutoFit/>
          </a:bodyPr>
          <a:lstStyle/>
          <a:p>
            <a:pPr algn="l"/>
            <a:r>
              <a:rPr sz="1000" b="0" i="0">
                <a:solidFill>
                  <a:srgbClr val="4A5568"/>
                </a:solidFill>
                <a:latin typeface="Meiryo"/>
              </a:rPr>
              <a:t>MCPにより社内DB・Slack・Jira等と接続。新規開発不要で既存IT資産をAIから活用</a:t>
            </a:r>
          </a:p>
        </p:txBody>
      </p:sp>
      <p:sp>
        <p:nvSpPr>
          <p:cNvPr id="12" name="Rectangle 11"/>
          <p:cNvSpPr/>
          <p:nvPr/>
        </p:nvSpPr>
        <p:spPr>
          <a:xfrm>
            <a:off x="274320" y="3611880"/>
            <a:ext cx="5669280" cy="868680"/>
          </a:xfrm>
          <a:prstGeom prst="rect">
            <a:avLst/>
          </a:prstGeom>
          <a:solidFill>
            <a:srgbClr val="E6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3703320"/>
            <a:ext cx="5449824" cy="320040"/>
          </a:xfrm>
          <a:prstGeom prst="rect">
            <a:avLst/>
          </a:prstGeom>
          <a:noFill/>
        </p:spPr>
        <p:txBody>
          <a:bodyPr wrap="square">
            <a:spAutoFit/>
          </a:bodyPr>
          <a:lstStyle/>
          <a:p>
            <a:pPr algn="l"/>
            <a:r>
              <a:rPr sz="1200" b="1" i="0">
                <a:solidFill>
                  <a:srgbClr val="0A7C42"/>
                </a:solidFill>
                <a:latin typeface="Meiryo"/>
              </a:rPr>
              <a:t>▶ 顧客への新サービス展開</a:t>
            </a:r>
          </a:p>
        </p:txBody>
      </p:sp>
      <p:sp>
        <p:nvSpPr>
          <p:cNvPr id="14" name="TextBox 13"/>
          <p:cNvSpPr txBox="1"/>
          <p:nvPr/>
        </p:nvSpPr>
        <p:spPr>
          <a:xfrm>
            <a:off x="384048" y="3995928"/>
            <a:ext cx="5449824" cy="393191"/>
          </a:xfrm>
          <a:prstGeom prst="rect">
            <a:avLst/>
          </a:prstGeom>
          <a:noFill/>
        </p:spPr>
        <p:txBody>
          <a:bodyPr wrap="square">
            <a:spAutoFit/>
          </a:bodyPr>
          <a:lstStyle/>
          <a:p>
            <a:pPr algn="l"/>
            <a:r>
              <a:rPr sz="1000" b="0" i="0">
                <a:solidFill>
                  <a:srgbClr val="4A5568"/>
                </a:solidFill>
                <a:latin typeface="Meiryo"/>
              </a:rPr>
              <a:t>導入ノウハウを武器にAIエージェント導入支援・MCP構築を顧客向けサービスとして提供</a:t>
            </a:r>
          </a:p>
        </p:txBody>
      </p:sp>
      <p:sp>
        <p:nvSpPr>
          <p:cNvPr id="15" name="Rectangle 14"/>
          <p:cNvSpPr/>
          <p:nvPr/>
        </p:nvSpPr>
        <p:spPr>
          <a:xfrm>
            <a:off x="274320" y="4572000"/>
            <a:ext cx="5669280" cy="868680"/>
          </a:xfrm>
          <a:prstGeom prst="rect">
            <a:avLst/>
          </a:prstGeom>
          <a:solidFill>
            <a:srgbClr val="E6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4663440"/>
            <a:ext cx="5449824" cy="320040"/>
          </a:xfrm>
          <a:prstGeom prst="rect">
            <a:avLst/>
          </a:prstGeom>
          <a:noFill/>
        </p:spPr>
        <p:txBody>
          <a:bodyPr wrap="square">
            <a:spAutoFit/>
          </a:bodyPr>
          <a:lstStyle/>
          <a:p>
            <a:pPr algn="l"/>
            <a:r>
              <a:rPr sz="1200" b="1" i="0">
                <a:solidFill>
                  <a:srgbClr val="0A7C42"/>
                </a:solidFill>
                <a:latin typeface="Meiryo"/>
              </a:rPr>
              <a:t>▶ 業界標準技術の先行習得</a:t>
            </a:r>
          </a:p>
        </p:txBody>
      </p:sp>
      <p:sp>
        <p:nvSpPr>
          <p:cNvPr id="17" name="TextBox 16"/>
          <p:cNvSpPr txBox="1"/>
          <p:nvPr/>
        </p:nvSpPr>
        <p:spPr>
          <a:xfrm>
            <a:off x="384048" y="4956048"/>
            <a:ext cx="5449824" cy="393191"/>
          </a:xfrm>
          <a:prstGeom prst="rect">
            <a:avLst/>
          </a:prstGeom>
          <a:noFill/>
        </p:spPr>
        <p:txBody>
          <a:bodyPr wrap="square">
            <a:spAutoFit/>
          </a:bodyPr>
          <a:lstStyle/>
          <a:p>
            <a:pPr algn="l"/>
            <a:r>
              <a:rPr sz="1000" b="0" i="0">
                <a:solidFill>
                  <a:srgbClr val="4A5568"/>
                </a:solidFill>
                <a:latin typeface="Meiryo"/>
              </a:rPr>
              <a:t>MCPはOpenAI・Googleも採用する標準規格。先行習熟で技術的優位性を確立</a:t>
            </a:r>
          </a:p>
        </p:txBody>
      </p:sp>
      <p:sp>
        <p:nvSpPr>
          <p:cNvPr id="18" name="Rectangle 17"/>
          <p:cNvSpPr/>
          <p:nvPr/>
        </p:nvSpPr>
        <p:spPr>
          <a:xfrm>
            <a:off x="274320" y="5532120"/>
            <a:ext cx="5669280" cy="868680"/>
          </a:xfrm>
          <a:prstGeom prst="rect">
            <a:avLst/>
          </a:prstGeom>
          <a:solidFill>
            <a:srgbClr val="E6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5623560"/>
            <a:ext cx="5449824" cy="320040"/>
          </a:xfrm>
          <a:prstGeom prst="rect">
            <a:avLst/>
          </a:prstGeom>
          <a:noFill/>
        </p:spPr>
        <p:txBody>
          <a:bodyPr wrap="square">
            <a:spAutoFit/>
          </a:bodyPr>
          <a:lstStyle/>
          <a:p>
            <a:pPr algn="l"/>
            <a:r>
              <a:rPr sz="1200" b="1" i="0">
                <a:solidFill>
                  <a:srgbClr val="0A7C42"/>
                </a:solidFill>
                <a:latin typeface="Meiryo"/>
              </a:rPr>
              <a:t>▶ 競争力・差別化の実現</a:t>
            </a:r>
          </a:p>
        </p:txBody>
      </p:sp>
      <p:sp>
        <p:nvSpPr>
          <p:cNvPr id="20" name="TextBox 19"/>
          <p:cNvSpPr txBox="1"/>
          <p:nvPr/>
        </p:nvSpPr>
        <p:spPr>
          <a:xfrm>
            <a:off x="384048" y="5916168"/>
            <a:ext cx="5449824" cy="393191"/>
          </a:xfrm>
          <a:prstGeom prst="rect">
            <a:avLst/>
          </a:prstGeom>
          <a:noFill/>
        </p:spPr>
        <p:txBody>
          <a:bodyPr wrap="square">
            <a:spAutoFit/>
          </a:bodyPr>
          <a:lstStyle/>
          <a:p>
            <a:pPr algn="l"/>
            <a:r>
              <a:rPr sz="1000" b="0" i="0">
                <a:solidFill>
                  <a:srgbClr val="4A5568"/>
                </a:solidFill>
                <a:latin typeface="Meiryo"/>
              </a:rPr>
              <a:t>AI活用実績を提案力に変換。工数削減による価格競争力と技術力ブランドを両立</a:t>
            </a:r>
          </a:p>
        </p:txBody>
      </p:sp>
      <p:sp>
        <p:nvSpPr>
          <p:cNvPr id="21" name="Rectangle 20"/>
          <p:cNvSpPr/>
          <p:nvPr/>
        </p:nvSpPr>
        <p:spPr>
          <a:xfrm>
            <a:off x="6245352" y="1097280"/>
            <a:ext cx="566928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1115568"/>
            <a:ext cx="5486400" cy="457200"/>
          </a:xfrm>
          <a:prstGeom prst="rect">
            <a:avLst/>
          </a:prstGeom>
          <a:noFill/>
        </p:spPr>
        <p:txBody>
          <a:bodyPr wrap="square">
            <a:spAutoFit/>
          </a:bodyPr>
          <a:lstStyle/>
          <a:p>
            <a:pPr algn="l"/>
            <a:r>
              <a:rPr sz="1400" b="1" i="0">
                <a:solidFill>
                  <a:srgbClr val="FFFFFF"/>
                </a:solidFill>
                <a:latin typeface="Meiryo"/>
              </a:rPr>
              <a:t>⚠️  デメリット・留意点</a:t>
            </a:r>
          </a:p>
        </p:txBody>
      </p:sp>
      <p:sp>
        <p:nvSpPr>
          <p:cNvPr id="23" name="Rectangle 22"/>
          <p:cNvSpPr/>
          <p:nvPr/>
        </p:nvSpPr>
        <p:spPr>
          <a:xfrm>
            <a:off x="6245352" y="1691640"/>
            <a:ext cx="5669280" cy="868680"/>
          </a:xfrm>
          <a:prstGeom prst="rect">
            <a:avLst/>
          </a:prstGeom>
          <a:solidFill>
            <a:srgbClr val="F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1783080"/>
            <a:ext cx="5449824" cy="320040"/>
          </a:xfrm>
          <a:prstGeom prst="rect">
            <a:avLst/>
          </a:prstGeom>
          <a:noFill/>
        </p:spPr>
        <p:txBody>
          <a:bodyPr wrap="square">
            <a:spAutoFit/>
          </a:bodyPr>
          <a:lstStyle/>
          <a:p>
            <a:pPr algn="l"/>
            <a:r>
              <a:rPr sz="1200" b="1" i="0">
                <a:solidFill>
                  <a:srgbClr val="C0392B"/>
                </a:solidFill>
                <a:latin typeface="Meiryo"/>
              </a:rPr>
              <a:t>▶ 顧客情報の外部送信リスク</a:t>
            </a:r>
          </a:p>
        </p:txBody>
      </p:sp>
      <p:sp>
        <p:nvSpPr>
          <p:cNvPr id="25" name="TextBox 24"/>
          <p:cNvSpPr txBox="1"/>
          <p:nvPr/>
        </p:nvSpPr>
        <p:spPr>
          <a:xfrm>
            <a:off x="6355080" y="2075688"/>
            <a:ext cx="5449824" cy="393191"/>
          </a:xfrm>
          <a:prstGeom prst="rect">
            <a:avLst/>
          </a:prstGeom>
          <a:noFill/>
        </p:spPr>
        <p:txBody>
          <a:bodyPr wrap="square">
            <a:spAutoFit/>
          </a:bodyPr>
          <a:lstStyle/>
          <a:p>
            <a:pPr algn="l"/>
            <a:r>
              <a:rPr sz="1000" b="0" i="0">
                <a:solidFill>
                  <a:srgbClr val="4A5568"/>
                </a:solidFill>
                <a:latin typeface="Meiryo"/>
              </a:rPr>
              <a:t>社内DBへのMCP接続が強力なため設定ミスによる情報流出リスクあり。権限制御が必須</a:t>
            </a:r>
          </a:p>
        </p:txBody>
      </p:sp>
      <p:sp>
        <p:nvSpPr>
          <p:cNvPr id="26" name="Rectangle 25"/>
          <p:cNvSpPr/>
          <p:nvPr/>
        </p:nvSpPr>
        <p:spPr>
          <a:xfrm>
            <a:off x="6245352" y="2651760"/>
            <a:ext cx="5669280" cy="868680"/>
          </a:xfrm>
          <a:prstGeom prst="rect">
            <a:avLst/>
          </a:prstGeom>
          <a:solidFill>
            <a:srgbClr val="F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2743200"/>
            <a:ext cx="5449824" cy="320040"/>
          </a:xfrm>
          <a:prstGeom prst="rect">
            <a:avLst/>
          </a:prstGeom>
          <a:noFill/>
        </p:spPr>
        <p:txBody>
          <a:bodyPr wrap="square">
            <a:spAutoFit/>
          </a:bodyPr>
          <a:lstStyle/>
          <a:p>
            <a:pPr algn="l"/>
            <a:r>
              <a:rPr sz="1200" b="1" i="0">
                <a:solidFill>
                  <a:srgbClr val="C0392B"/>
                </a:solidFill>
                <a:latin typeface="Meiryo"/>
              </a:rPr>
              <a:t>▶ エージェントの暴走リスク</a:t>
            </a:r>
          </a:p>
        </p:txBody>
      </p:sp>
      <p:sp>
        <p:nvSpPr>
          <p:cNvPr id="28" name="TextBox 27"/>
          <p:cNvSpPr txBox="1"/>
          <p:nvPr/>
        </p:nvSpPr>
        <p:spPr>
          <a:xfrm>
            <a:off x="6355080" y="3035808"/>
            <a:ext cx="5449824" cy="393191"/>
          </a:xfrm>
          <a:prstGeom prst="rect">
            <a:avLst/>
          </a:prstGeom>
          <a:noFill/>
        </p:spPr>
        <p:txBody>
          <a:bodyPr wrap="square">
            <a:spAutoFit/>
          </a:bodyPr>
          <a:lstStyle/>
          <a:p>
            <a:pPr algn="l"/>
            <a:r>
              <a:rPr sz="1000" b="0" i="0">
                <a:solidFill>
                  <a:srgbClr val="4A5568"/>
                </a:solidFill>
                <a:latin typeface="Meiryo"/>
              </a:rPr>
              <a:t>自律動作による意図しない操作（ファイル削除・メール送信等）に注意。承認フロー設計が重要</a:t>
            </a:r>
          </a:p>
        </p:txBody>
      </p:sp>
      <p:sp>
        <p:nvSpPr>
          <p:cNvPr id="29" name="Rectangle 28"/>
          <p:cNvSpPr/>
          <p:nvPr/>
        </p:nvSpPr>
        <p:spPr>
          <a:xfrm>
            <a:off x="6245352" y="3611880"/>
            <a:ext cx="5669280" cy="868680"/>
          </a:xfrm>
          <a:prstGeom prst="rect">
            <a:avLst/>
          </a:prstGeom>
          <a:solidFill>
            <a:srgbClr val="F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3703320"/>
            <a:ext cx="5449824" cy="320040"/>
          </a:xfrm>
          <a:prstGeom prst="rect">
            <a:avLst/>
          </a:prstGeom>
          <a:noFill/>
        </p:spPr>
        <p:txBody>
          <a:bodyPr wrap="square">
            <a:spAutoFit/>
          </a:bodyPr>
          <a:lstStyle/>
          <a:p>
            <a:pPr algn="l"/>
            <a:r>
              <a:rPr sz="1200" b="1" i="0">
                <a:solidFill>
                  <a:srgbClr val="C0392B"/>
                </a:solidFill>
                <a:latin typeface="Meiryo"/>
              </a:rPr>
              <a:t>▶ MCP設計の専門知識が必要</a:t>
            </a:r>
          </a:p>
        </p:txBody>
      </p:sp>
      <p:sp>
        <p:nvSpPr>
          <p:cNvPr id="31" name="TextBox 30"/>
          <p:cNvSpPr txBox="1"/>
          <p:nvPr/>
        </p:nvSpPr>
        <p:spPr>
          <a:xfrm>
            <a:off x="6355080" y="3995928"/>
            <a:ext cx="5449824" cy="393191"/>
          </a:xfrm>
          <a:prstGeom prst="rect">
            <a:avLst/>
          </a:prstGeom>
          <a:noFill/>
        </p:spPr>
        <p:txBody>
          <a:bodyPr wrap="square">
            <a:spAutoFit/>
          </a:bodyPr>
          <a:lstStyle/>
          <a:p>
            <a:pPr algn="l"/>
            <a:r>
              <a:rPr sz="1000" b="0" i="0">
                <a:solidFill>
                  <a:srgbClr val="4A5568"/>
                </a:solidFill>
                <a:latin typeface="Meiryo"/>
              </a:rPr>
              <a:t>MCPサーバー構築・管理にエンジニアリング知識が必要。担当者の育成が必要</a:t>
            </a:r>
          </a:p>
        </p:txBody>
      </p:sp>
      <p:sp>
        <p:nvSpPr>
          <p:cNvPr id="32" name="Rectangle 31"/>
          <p:cNvSpPr/>
          <p:nvPr/>
        </p:nvSpPr>
        <p:spPr>
          <a:xfrm>
            <a:off x="6245352" y="4572000"/>
            <a:ext cx="5669280" cy="868680"/>
          </a:xfrm>
          <a:prstGeom prst="rect">
            <a:avLst/>
          </a:prstGeom>
          <a:solidFill>
            <a:srgbClr val="F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4663440"/>
            <a:ext cx="5449824" cy="320040"/>
          </a:xfrm>
          <a:prstGeom prst="rect">
            <a:avLst/>
          </a:prstGeom>
          <a:noFill/>
        </p:spPr>
        <p:txBody>
          <a:bodyPr wrap="square">
            <a:spAutoFit/>
          </a:bodyPr>
          <a:lstStyle/>
          <a:p>
            <a:pPr algn="l"/>
            <a:r>
              <a:rPr sz="1200" b="1" i="0">
                <a:solidFill>
                  <a:srgbClr val="C0392B"/>
                </a:solidFill>
                <a:latin typeface="Meiryo"/>
              </a:rPr>
              <a:t>▶ ランニングコストの変動</a:t>
            </a:r>
          </a:p>
        </p:txBody>
      </p:sp>
      <p:sp>
        <p:nvSpPr>
          <p:cNvPr id="34" name="TextBox 33"/>
          <p:cNvSpPr txBox="1"/>
          <p:nvPr/>
        </p:nvSpPr>
        <p:spPr>
          <a:xfrm>
            <a:off x="6355080" y="4956048"/>
            <a:ext cx="5449824" cy="393191"/>
          </a:xfrm>
          <a:prstGeom prst="rect">
            <a:avLst/>
          </a:prstGeom>
          <a:noFill/>
        </p:spPr>
        <p:txBody>
          <a:bodyPr wrap="square">
            <a:spAutoFit/>
          </a:bodyPr>
          <a:lstStyle/>
          <a:p>
            <a:pPr algn="l"/>
            <a:r>
              <a:rPr sz="1000" b="0" i="0">
                <a:solidFill>
                  <a:srgbClr val="4A5568"/>
                </a:solidFill>
                <a:latin typeface="Meiryo"/>
              </a:rPr>
              <a:t>複数システム呼び出しでAPI使用量増加。利用上限設定と定期的なコスト監視が必要</a:t>
            </a:r>
          </a:p>
        </p:txBody>
      </p:sp>
      <p:sp>
        <p:nvSpPr>
          <p:cNvPr id="35" name="Rectangle 34"/>
          <p:cNvSpPr/>
          <p:nvPr/>
        </p:nvSpPr>
        <p:spPr>
          <a:xfrm>
            <a:off x="6245352" y="5532120"/>
            <a:ext cx="5669280" cy="868680"/>
          </a:xfrm>
          <a:prstGeom prst="rect">
            <a:avLst/>
          </a:prstGeom>
          <a:solidFill>
            <a:srgbClr val="F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5623560"/>
            <a:ext cx="5449824" cy="320040"/>
          </a:xfrm>
          <a:prstGeom prst="rect">
            <a:avLst/>
          </a:prstGeom>
          <a:noFill/>
        </p:spPr>
        <p:txBody>
          <a:bodyPr wrap="square">
            <a:spAutoFit/>
          </a:bodyPr>
          <a:lstStyle/>
          <a:p>
            <a:pPr algn="l"/>
            <a:r>
              <a:rPr sz="1200" b="1" i="0">
                <a:solidFill>
                  <a:srgbClr val="C0392B"/>
                </a:solidFill>
                <a:latin typeface="Meiryo"/>
              </a:rPr>
              <a:t>▶ AI出力への過信リスク</a:t>
            </a:r>
          </a:p>
        </p:txBody>
      </p:sp>
      <p:sp>
        <p:nvSpPr>
          <p:cNvPr id="37" name="TextBox 36"/>
          <p:cNvSpPr txBox="1"/>
          <p:nvPr/>
        </p:nvSpPr>
        <p:spPr>
          <a:xfrm>
            <a:off x="6355080" y="5916168"/>
            <a:ext cx="5449824" cy="393191"/>
          </a:xfrm>
          <a:prstGeom prst="rect">
            <a:avLst/>
          </a:prstGeom>
          <a:noFill/>
        </p:spPr>
        <p:txBody>
          <a:bodyPr wrap="square">
            <a:spAutoFit/>
          </a:bodyPr>
          <a:lstStyle/>
          <a:p>
            <a:pPr algn="l"/>
            <a:r>
              <a:rPr sz="1000" b="0" i="0">
                <a:solidFill>
                  <a:srgbClr val="4A5568"/>
                </a:solidFill>
                <a:latin typeface="Meiryo"/>
              </a:rPr>
              <a:t>自律実行の便利さから人間のチェックが薄れる危険性。重要業務は最終確認ルールを設計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r>
              <a:rPr sz="2400" b="1" i="0">
                <a:solidFill>
                  <a:srgbClr val="FFFFFF"/>
                </a:solidFill>
                <a:latin typeface="Meiryo"/>
              </a:rPr>
              <a:t>05｜セキュリティ対策</a:t>
            </a:r>
          </a:p>
        </p:txBody>
      </p:sp>
      <p:sp>
        <p:nvSpPr>
          <p:cNvPr id="4" name="TextBox 3"/>
          <p:cNvSpPr txBox="1"/>
          <p:nvPr/>
        </p:nvSpPr>
        <p:spPr>
          <a:xfrm>
            <a:off x="457200" y="658368"/>
            <a:ext cx="10972800" cy="320040"/>
          </a:xfrm>
          <a:prstGeom prst="rect">
            <a:avLst/>
          </a:prstGeom>
          <a:noFill/>
        </p:spPr>
        <p:txBody>
          <a:bodyPr wrap="square">
            <a:spAutoFit/>
          </a:bodyPr>
          <a:lstStyle/>
          <a:p>
            <a:pPr algn="l"/>
            <a:r>
              <a:rPr sz="1200" b="0" i="0">
                <a:solidFill>
                  <a:srgbClr val="B4C8E6"/>
                </a:solidFill>
                <a:latin typeface="Meiryo"/>
              </a:rPr>
              <a:t>独立系SIerとして最重要——技術的に担保できる</a:t>
            </a:r>
          </a:p>
        </p:txBody>
      </p:sp>
      <p:sp>
        <p:nvSpPr>
          <p:cNvPr id="5" name="Rectangle 4"/>
          <p:cNvSpPr/>
          <p:nvPr/>
        </p:nvSpPr>
        <p:spPr>
          <a:xfrm>
            <a:off x="274320" y="1143000"/>
            <a:ext cx="3749039" cy="17373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234440"/>
            <a:ext cx="3529583" cy="320040"/>
          </a:xfrm>
          <a:prstGeom prst="rect">
            <a:avLst/>
          </a:prstGeom>
          <a:noFill/>
        </p:spPr>
        <p:txBody>
          <a:bodyPr wrap="square">
            <a:spAutoFit/>
          </a:bodyPr>
          <a:lstStyle/>
          <a:p>
            <a:pPr algn="l"/>
            <a:r>
              <a:rPr sz="1200" b="1" i="0">
                <a:solidFill>
                  <a:srgbClr val="2A5298"/>
                </a:solidFill>
                <a:latin typeface="Meiryo"/>
              </a:rPr>
              <a:t>🔒 学習利用なし</a:t>
            </a:r>
          </a:p>
        </p:txBody>
      </p:sp>
      <p:sp>
        <p:nvSpPr>
          <p:cNvPr id="7" name="TextBox 6"/>
          <p:cNvSpPr txBox="1"/>
          <p:nvPr/>
        </p:nvSpPr>
        <p:spPr>
          <a:xfrm>
            <a:off x="384048" y="1527048"/>
            <a:ext cx="3529583" cy="1261872"/>
          </a:xfrm>
          <a:prstGeom prst="rect">
            <a:avLst/>
          </a:prstGeom>
          <a:noFill/>
        </p:spPr>
        <p:txBody>
          <a:bodyPr wrap="square">
            <a:spAutoFit/>
          </a:bodyPr>
          <a:lstStyle/>
          <a:p>
            <a:pPr algn="l"/>
            <a:r>
              <a:rPr sz="1100" b="0" i="0">
                <a:solidFill>
                  <a:srgbClr val="4A5568"/>
                </a:solidFill>
                <a:latin typeface="Meiryo"/>
              </a:rPr>
              <a:t>Team/Enterprise/APIプランでは送信データがモデル学習に一切使用されないことを契約で保証</a:t>
            </a:r>
          </a:p>
        </p:txBody>
      </p:sp>
      <p:sp>
        <p:nvSpPr>
          <p:cNvPr id="8" name="Rectangle 7"/>
          <p:cNvSpPr/>
          <p:nvPr/>
        </p:nvSpPr>
        <p:spPr>
          <a:xfrm>
            <a:off x="4206240" y="1143000"/>
            <a:ext cx="3749039" cy="17373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15968" y="1234440"/>
            <a:ext cx="3529583" cy="320040"/>
          </a:xfrm>
          <a:prstGeom prst="rect">
            <a:avLst/>
          </a:prstGeom>
          <a:noFill/>
        </p:spPr>
        <p:txBody>
          <a:bodyPr wrap="square">
            <a:spAutoFit/>
          </a:bodyPr>
          <a:lstStyle/>
          <a:p>
            <a:pPr algn="l"/>
            <a:r>
              <a:rPr sz="1200" b="1" i="0">
                <a:solidFill>
                  <a:srgbClr val="2A5298"/>
                </a:solidFill>
                <a:latin typeface="Meiryo"/>
              </a:rPr>
              <a:t>🗄️ ゼロデータ保持（ZDR）</a:t>
            </a:r>
          </a:p>
        </p:txBody>
      </p:sp>
      <p:sp>
        <p:nvSpPr>
          <p:cNvPr id="10" name="TextBox 9"/>
          <p:cNvSpPr txBox="1"/>
          <p:nvPr/>
        </p:nvSpPr>
        <p:spPr>
          <a:xfrm>
            <a:off x="4315968" y="1527048"/>
            <a:ext cx="3529583" cy="1261872"/>
          </a:xfrm>
          <a:prstGeom prst="rect">
            <a:avLst/>
          </a:prstGeom>
          <a:noFill/>
        </p:spPr>
        <p:txBody>
          <a:bodyPr wrap="square">
            <a:spAutoFit/>
          </a:bodyPr>
          <a:lstStyle/>
          <a:p>
            <a:pPr algn="l"/>
            <a:r>
              <a:rPr sz="1100" b="0" i="0">
                <a:solidFill>
                  <a:srgbClr val="4A5568"/>
                </a:solidFill>
                <a:latin typeface="Meiryo"/>
              </a:rPr>
              <a:t>Enterpriseプランで申請可能。推論後にサーバーから即時削除。官公庁・金融案件にも対応</a:t>
            </a:r>
          </a:p>
        </p:txBody>
      </p:sp>
      <p:sp>
        <p:nvSpPr>
          <p:cNvPr id="11" name="Rectangle 10"/>
          <p:cNvSpPr/>
          <p:nvPr/>
        </p:nvSpPr>
        <p:spPr>
          <a:xfrm>
            <a:off x="8138160" y="1143000"/>
            <a:ext cx="3749039" cy="17373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1234440"/>
            <a:ext cx="3529583" cy="320040"/>
          </a:xfrm>
          <a:prstGeom prst="rect">
            <a:avLst/>
          </a:prstGeom>
          <a:noFill/>
        </p:spPr>
        <p:txBody>
          <a:bodyPr wrap="square">
            <a:spAutoFit/>
          </a:bodyPr>
          <a:lstStyle/>
          <a:p>
            <a:pPr algn="l"/>
            <a:r>
              <a:rPr sz="1200" b="1" i="0">
                <a:solidFill>
                  <a:srgbClr val="2A5298"/>
                </a:solidFill>
                <a:latin typeface="Meiryo"/>
              </a:rPr>
              <a:t>☁️ 自社クラウド内完結</a:t>
            </a:r>
          </a:p>
        </p:txBody>
      </p:sp>
      <p:sp>
        <p:nvSpPr>
          <p:cNvPr id="13" name="TextBox 12"/>
          <p:cNvSpPr txBox="1"/>
          <p:nvPr/>
        </p:nvSpPr>
        <p:spPr>
          <a:xfrm>
            <a:off x="8247888" y="1527048"/>
            <a:ext cx="3529583" cy="1261872"/>
          </a:xfrm>
          <a:prstGeom prst="rect">
            <a:avLst/>
          </a:prstGeom>
          <a:noFill/>
        </p:spPr>
        <p:txBody>
          <a:bodyPr wrap="square">
            <a:spAutoFit/>
          </a:bodyPr>
          <a:lstStyle/>
          <a:p>
            <a:pPr algn="l"/>
            <a:r>
              <a:rPr sz="1100" b="0" i="0">
                <a:solidFill>
                  <a:srgbClr val="4A5568"/>
                </a:solidFill>
                <a:latin typeface="Meiryo"/>
              </a:rPr>
              <a:t>AWS Bedrock / Google Vertex AI経由でデータがAnthropicサーバーに送られず自社環境内で完結</a:t>
            </a:r>
          </a:p>
        </p:txBody>
      </p:sp>
      <p:sp>
        <p:nvSpPr>
          <p:cNvPr id="14" name="Rectangle 13"/>
          <p:cNvSpPr/>
          <p:nvPr/>
        </p:nvSpPr>
        <p:spPr>
          <a:xfrm>
            <a:off x="274320" y="3063240"/>
            <a:ext cx="3749039" cy="17373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3154680"/>
            <a:ext cx="3529583" cy="320040"/>
          </a:xfrm>
          <a:prstGeom prst="rect">
            <a:avLst/>
          </a:prstGeom>
          <a:noFill/>
        </p:spPr>
        <p:txBody>
          <a:bodyPr wrap="square">
            <a:spAutoFit/>
          </a:bodyPr>
          <a:lstStyle/>
          <a:p>
            <a:pPr algn="l"/>
            <a:r>
              <a:rPr sz="1200" b="1" i="0">
                <a:solidFill>
                  <a:srgbClr val="2A5298"/>
                </a:solidFill>
                <a:latin typeface="Meiryo"/>
              </a:rPr>
              <a:t>⚙️ MCPアクセス権限制御</a:t>
            </a:r>
          </a:p>
        </p:txBody>
      </p:sp>
      <p:sp>
        <p:nvSpPr>
          <p:cNvPr id="16" name="TextBox 15"/>
          <p:cNvSpPr txBox="1"/>
          <p:nvPr/>
        </p:nvSpPr>
        <p:spPr>
          <a:xfrm>
            <a:off x="384048" y="3447288"/>
            <a:ext cx="3529583" cy="1261872"/>
          </a:xfrm>
          <a:prstGeom prst="rect">
            <a:avLst/>
          </a:prstGeom>
          <a:noFill/>
        </p:spPr>
        <p:txBody>
          <a:bodyPr wrap="square">
            <a:spAutoFit/>
          </a:bodyPr>
          <a:lstStyle/>
          <a:p>
            <a:pPr algn="l"/>
            <a:r>
              <a:rPr sz="1100" b="0" i="0">
                <a:solidFill>
                  <a:srgbClr val="4A5568"/>
                </a:solidFill>
                <a:latin typeface="Meiryo"/>
              </a:rPr>
              <a:t>MCP接続先ごとに読み取り専用・書き込み禁止を細かく設定。最小権限の原則を実装</a:t>
            </a:r>
          </a:p>
        </p:txBody>
      </p:sp>
      <p:sp>
        <p:nvSpPr>
          <p:cNvPr id="17" name="Rectangle 16"/>
          <p:cNvSpPr/>
          <p:nvPr/>
        </p:nvSpPr>
        <p:spPr>
          <a:xfrm>
            <a:off x="4206240" y="3063240"/>
            <a:ext cx="3749039" cy="17373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15968" y="3154680"/>
            <a:ext cx="3529583" cy="320040"/>
          </a:xfrm>
          <a:prstGeom prst="rect">
            <a:avLst/>
          </a:prstGeom>
          <a:noFill/>
        </p:spPr>
        <p:txBody>
          <a:bodyPr wrap="square">
            <a:spAutoFit/>
          </a:bodyPr>
          <a:lstStyle/>
          <a:p>
            <a:pPr algn="l"/>
            <a:r>
              <a:rPr sz="1200" b="1" i="0">
                <a:solidFill>
                  <a:srgbClr val="2A5298"/>
                </a:solidFill>
                <a:latin typeface="Meiryo"/>
              </a:rPr>
              <a:t>📋 監査ログ完備</a:t>
            </a:r>
          </a:p>
        </p:txBody>
      </p:sp>
      <p:sp>
        <p:nvSpPr>
          <p:cNvPr id="19" name="TextBox 18"/>
          <p:cNvSpPr txBox="1"/>
          <p:nvPr/>
        </p:nvSpPr>
        <p:spPr>
          <a:xfrm>
            <a:off x="4315968" y="3447288"/>
            <a:ext cx="3529583" cy="1261872"/>
          </a:xfrm>
          <a:prstGeom prst="rect">
            <a:avLst/>
          </a:prstGeom>
          <a:noFill/>
        </p:spPr>
        <p:txBody>
          <a:bodyPr wrap="square">
            <a:spAutoFit/>
          </a:bodyPr>
          <a:lstStyle/>
          <a:p>
            <a:pPr algn="l"/>
            <a:r>
              <a:rPr sz="1100" b="0" i="0">
                <a:solidFill>
                  <a:srgbClr val="4A5568"/>
                </a:solidFill>
                <a:latin typeface="Meiryo"/>
              </a:rPr>
              <a:t>AWS CloudTrailによる自動記録。AIの全アクションを追跡・証跡化。コンプライアンス対応</a:t>
            </a:r>
          </a:p>
        </p:txBody>
      </p:sp>
      <p:sp>
        <p:nvSpPr>
          <p:cNvPr id="20" name="Rectangle 19"/>
          <p:cNvSpPr/>
          <p:nvPr/>
        </p:nvSpPr>
        <p:spPr>
          <a:xfrm>
            <a:off x="8138160" y="3063240"/>
            <a:ext cx="3749039" cy="173736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3154680"/>
            <a:ext cx="3529583" cy="320040"/>
          </a:xfrm>
          <a:prstGeom prst="rect">
            <a:avLst/>
          </a:prstGeom>
          <a:noFill/>
        </p:spPr>
        <p:txBody>
          <a:bodyPr wrap="square">
            <a:spAutoFit/>
          </a:bodyPr>
          <a:lstStyle/>
          <a:p>
            <a:pPr algn="l"/>
            <a:r>
              <a:rPr sz="1200" b="1" i="0">
                <a:solidFill>
                  <a:srgbClr val="2A5298"/>
                </a:solidFill>
                <a:latin typeface="Meiryo"/>
              </a:rPr>
              <a:t>🛡️ 国際認証取得済み</a:t>
            </a:r>
          </a:p>
        </p:txBody>
      </p:sp>
      <p:sp>
        <p:nvSpPr>
          <p:cNvPr id="22" name="TextBox 21"/>
          <p:cNvSpPr txBox="1"/>
          <p:nvPr/>
        </p:nvSpPr>
        <p:spPr>
          <a:xfrm>
            <a:off x="8247888" y="3447288"/>
            <a:ext cx="3529583" cy="1261872"/>
          </a:xfrm>
          <a:prstGeom prst="rect">
            <a:avLst/>
          </a:prstGeom>
          <a:noFill/>
        </p:spPr>
        <p:txBody>
          <a:bodyPr wrap="square">
            <a:spAutoFit/>
          </a:bodyPr>
          <a:lstStyle/>
          <a:p>
            <a:pPr algn="l"/>
            <a:r>
              <a:rPr sz="1100" b="0" i="0">
                <a:solidFill>
                  <a:srgbClr val="4A5568"/>
                </a:solidFill>
                <a:latin typeface="Meiryo"/>
              </a:rPr>
              <a:t>SOC 2 Type II・ISO 27001・ISO/IEC 42001（AI管理）・HIPAA BAA対応。第三者審査済み</a:t>
            </a:r>
          </a:p>
        </p:txBody>
      </p:sp>
      <p:sp>
        <p:nvSpPr>
          <p:cNvPr id="23" name="Rectangle 22"/>
          <p:cNvSpPr/>
          <p:nvPr/>
        </p:nvSpPr>
        <p:spPr>
          <a:xfrm>
            <a:off x="274320" y="4983480"/>
            <a:ext cx="11640312" cy="50292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001768"/>
            <a:ext cx="11430000" cy="457200"/>
          </a:xfrm>
          <a:prstGeom prst="rect">
            <a:avLst/>
          </a:prstGeom>
          <a:noFill/>
        </p:spPr>
        <p:txBody>
          <a:bodyPr wrap="square">
            <a:spAutoFit/>
          </a:bodyPr>
          <a:lstStyle/>
          <a:p>
            <a:pPr algn="ctr"/>
            <a:r>
              <a:rPr sz="1300" b="1" i="0">
                <a:solidFill>
                  <a:srgbClr val="FFFFFF"/>
                </a:solidFill>
                <a:latin typeface="Meiryo"/>
              </a:rPr>
              <a:t>推奨：AWS Bedrock経由　→　データが自社AWS内に留まり CloudTrail で監査ログを完備</a:t>
            </a:r>
          </a:p>
        </p:txBody>
      </p:sp>
      <p:sp>
        <p:nvSpPr>
          <p:cNvPr id="25" name="Rectangle 24"/>
          <p:cNvSpPr/>
          <p:nvPr/>
        </p:nvSpPr>
        <p:spPr>
          <a:xfrm>
            <a:off x="274320" y="5577840"/>
            <a:ext cx="5394960" cy="731520"/>
          </a:xfrm>
          <a:prstGeom prst="rect">
            <a:avLst/>
          </a:prstGeom>
          <a:solidFill>
            <a:srgbClr val="E8F4FD"/>
          </a:solidFill>
          <a:ln w="12700">
            <a:solidFill>
              <a:srgbClr val="96C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5596128"/>
            <a:ext cx="5212080" cy="685800"/>
          </a:xfrm>
          <a:prstGeom prst="rect">
            <a:avLst/>
          </a:prstGeom>
          <a:noFill/>
        </p:spPr>
        <p:txBody>
          <a:bodyPr wrap="square">
            <a:spAutoFit/>
          </a:bodyPr>
          <a:lstStyle/>
          <a:p>
            <a:pPr algn="l"/>
            <a:r>
              <a:rPr sz="1100" b="0" i="0">
                <a:solidFill>
                  <a:srgbClr val="2A5298"/>
                </a:solidFill>
                <a:latin typeface="Meiryo"/>
              </a:rPr>
              <a:t>Anthropic API直接 → PoC検証用のみ推奨</a:t>
            </a:r>
          </a:p>
        </p:txBody>
      </p:sp>
      <p:sp>
        <p:nvSpPr>
          <p:cNvPr id="27" name="Rectangle 26"/>
          <p:cNvSpPr/>
          <p:nvPr/>
        </p:nvSpPr>
        <p:spPr>
          <a:xfrm>
            <a:off x="5943600" y="5577840"/>
            <a:ext cx="5394960" cy="731520"/>
          </a:xfrm>
          <a:prstGeom prst="rect">
            <a:avLst/>
          </a:prstGeom>
          <a:solidFill>
            <a:srgbClr val="F0FFF5"/>
          </a:solidFill>
          <a:ln w="12700">
            <a:solidFill>
              <a:srgbClr val="96D2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35040" y="5596128"/>
            <a:ext cx="5212080" cy="685800"/>
          </a:xfrm>
          <a:prstGeom prst="rect">
            <a:avLst/>
          </a:prstGeom>
          <a:noFill/>
        </p:spPr>
        <p:txBody>
          <a:bodyPr wrap="square">
            <a:spAutoFit/>
          </a:bodyPr>
          <a:lstStyle/>
          <a:p>
            <a:pPr algn="l"/>
            <a:r>
              <a:rPr sz="1100" b="0" i="0">
                <a:solidFill>
                  <a:srgbClr val="0A7C42"/>
                </a:solidFill>
                <a:latin typeface="Meiryo"/>
              </a:rPr>
              <a:t>Enterprise + ZDR → 官公庁・金融など最高水準が求められる案件向け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r>
              <a:rPr sz="2400" b="1" i="0">
                <a:solidFill>
                  <a:srgbClr val="FFFFFF"/>
                </a:solidFill>
                <a:latin typeface="Meiryo"/>
              </a:rPr>
              <a:t>06｜導入ロードマップ</a:t>
            </a:r>
          </a:p>
        </p:txBody>
      </p:sp>
      <p:sp>
        <p:nvSpPr>
          <p:cNvPr id="4" name="TextBox 3"/>
          <p:cNvSpPr txBox="1"/>
          <p:nvPr/>
        </p:nvSpPr>
        <p:spPr>
          <a:xfrm>
            <a:off x="457200" y="658368"/>
            <a:ext cx="10972800" cy="320040"/>
          </a:xfrm>
          <a:prstGeom prst="rect">
            <a:avLst/>
          </a:prstGeom>
          <a:noFill/>
        </p:spPr>
        <p:txBody>
          <a:bodyPr wrap="square">
            <a:spAutoFit/>
          </a:bodyPr>
          <a:lstStyle/>
          <a:p>
            <a:pPr algn="l"/>
            <a:r>
              <a:rPr sz="1200" b="0" i="0">
                <a:solidFill>
                  <a:srgbClr val="B4C8E6"/>
                </a:solidFill>
                <a:latin typeface="Meiryo"/>
              </a:rPr>
              <a:t>段階的に進めてリスクを最小化</a:t>
            </a:r>
          </a:p>
        </p:txBody>
      </p:sp>
      <p:sp>
        <p:nvSpPr>
          <p:cNvPr id="5" name="Rectangle 4"/>
          <p:cNvSpPr/>
          <p:nvPr/>
        </p:nvSpPr>
        <p:spPr>
          <a:xfrm>
            <a:off x="274320" y="1143000"/>
            <a:ext cx="3788664" cy="59436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61288"/>
            <a:ext cx="3605784" cy="548640"/>
          </a:xfrm>
          <a:prstGeom prst="rect">
            <a:avLst/>
          </a:prstGeom>
          <a:noFill/>
        </p:spPr>
        <p:txBody>
          <a:bodyPr wrap="square">
            <a:spAutoFit/>
          </a:bodyPr>
          <a:lstStyle/>
          <a:p>
            <a:pPr algn="l"/>
            <a:r>
              <a:rPr sz="1400" b="1" i="0">
                <a:solidFill>
                  <a:srgbClr val="FFFFFF"/>
                </a:solidFill>
                <a:latin typeface="Meiryo"/>
              </a:rPr>
              <a:t>Phase 1：PoC検証</a:t>
            </a:r>
          </a:p>
        </p:txBody>
      </p:sp>
      <p:sp>
        <p:nvSpPr>
          <p:cNvPr id="7" name="Rectangle 6"/>
          <p:cNvSpPr/>
          <p:nvPr/>
        </p:nvSpPr>
        <p:spPr>
          <a:xfrm>
            <a:off x="274320" y="1783080"/>
            <a:ext cx="3788664" cy="38404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1847088"/>
            <a:ext cx="3569208" cy="320040"/>
          </a:xfrm>
          <a:prstGeom prst="rect">
            <a:avLst/>
          </a:prstGeom>
          <a:noFill/>
        </p:spPr>
        <p:txBody>
          <a:bodyPr wrap="square">
            <a:spAutoFit/>
          </a:bodyPr>
          <a:lstStyle/>
          <a:p>
            <a:pPr algn="l"/>
            <a:r>
              <a:rPr sz="1100" b="0" i="1">
                <a:solidFill>
                  <a:srgbClr val="4A5568"/>
                </a:solidFill>
                <a:latin typeface="Meiryo"/>
              </a:rPr>
              <a:t>期間：1〜2ヶ月</a:t>
            </a:r>
          </a:p>
        </p:txBody>
      </p:sp>
      <p:sp>
        <p:nvSpPr>
          <p:cNvPr id="9" name="TextBox 8"/>
          <p:cNvSpPr txBox="1"/>
          <p:nvPr/>
        </p:nvSpPr>
        <p:spPr>
          <a:xfrm>
            <a:off x="384048" y="2212848"/>
            <a:ext cx="3569208" cy="3291840"/>
          </a:xfrm>
          <a:prstGeom prst="rect">
            <a:avLst/>
          </a:prstGeom>
          <a:noFill/>
        </p:spPr>
        <p:txBody>
          <a:bodyPr wrap="square">
            <a:spAutoFit/>
          </a:bodyPr>
          <a:lstStyle/>
          <a:p>
            <a:pPr algn="l"/>
            <a:r>
              <a:rPr sz="1200" b="0" i="0">
                <a:solidFill>
                  <a:srgbClr val="1A202C"/>
                </a:solidFill>
                <a:latin typeface="Meiryo"/>
              </a:rPr>
              <a:t>• 開発5〜10名・非開発2〜3名で試験導入</a:t>
            </a:r>
          </a:p>
          <a:p>
            <a:pPr algn="l"/>
            <a:r>
              <a:rPr sz="1200" b="0" i="0">
                <a:solidFill>
                  <a:srgbClr val="1A202C"/>
                </a:solidFill>
                <a:latin typeface="Meiryo"/>
              </a:rPr>
              <a:t>• AWS Bedrock経由のセキュア環境構築</a:t>
            </a:r>
          </a:p>
          <a:p>
            <a:pPr algn="l"/>
            <a:r>
              <a:rPr sz="1200" b="0" i="0">
                <a:solidFill>
                  <a:srgbClr val="1A202C"/>
                </a:solidFill>
                <a:latin typeface="Meiryo"/>
              </a:rPr>
              <a:t>• MCP：Slack / Notion / GitHubから開始</a:t>
            </a:r>
          </a:p>
          <a:p>
            <a:pPr algn="l"/>
            <a:r>
              <a:rPr sz="1200" b="0" i="0">
                <a:solidFill>
                  <a:srgbClr val="1A202C"/>
                </a:solidFill>
                <a:latin typeface="Meiryo"/>
              </a:rPr>
              <a:t>• 利用ガイドライン・権限設計</a:t>
            </a:r>
          </a:p>
          <a:p>
            <a:pPr algn="l"/>
            <a:r>
              <a:rPr sz="1200" b="0" i="0">
                <a:solidFill>
                  <a:srgbClr val="1A202C"/>
                </a:solidFill>
                <a:latin typeface="Meiryo"/>
              </a:rPr>
              <a:t>• 業務別の効果を定量計測</a:t>
            </a:r>
          </a:p>
        </p:txBody>
      </p:sp>
      <p:sp>
        <p:nvSpPr>
          <p:cNvPr id="10" name="Rectangle 9"/>
          <p:cNvSpPr/>
          <p:nvPr/>
        </p:nvSpPr>
        <p:spPr>
          <a:xfrm>
            <a:off x="274320" y="5669280"/>
            <a:ext cx="3788664" cy="685800"/>
          </a:xfrm>
          <a:prstGeom prst="rect">
            <a:avLst/>
          </a:prstGeom>
          <a:solidFill>
            <a:srgbClr val="DCE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5687568"/>
            <a:ext cx="3569208" cy="274320"/>
          </a:xfrm>
          <a:prstGeom prst="rect">
            <a:avLst/>
          </a:prstGeom>
          <a:noFill/>
        </p:spPr>
        <p:txBody>
          <a:bodyPr wrap="square">
            <a:spAutoFit/>
          </a:bodyPr>
          <a:lstStyle/>
          <a:p>
            <a:pPr algn="l"/>
            <a:r>
              <a:rPr sz="1000" b="1" i="0">
                <a:solidFill>
                  <a:srgbClr val="2A5298"/>
                </a:solidFill>
                <a:latin typeface="Meiryo"/>
              </a:rPr>
              <a:t>KPI目標</a:t>
            </a:r>
          </a:p>
        </p:txBody>
      </p:sp>
      <p:sp>
        <p:nvSpPr>
          <p:cNvPr id="12" name="TextBox 11"/>
          <p:cNvSpPr txBox="1"/>
          <p:nvPr/>
        </p:nvSpPr>
        <p:spPr>
          <a:xfrm>
            <a:off x="384048" y="5943600"/>
            <a:ext cx="3569208" cy="365760"/>
          </a:xfrm>
          <a:prstGeom prst="rect">
            <a:avLst/>
          </a:prstGeom>
          <a:noFill/>
        </p:spPr>
        <p:txBody>
          <a:bodyPr wrap="square">
            <a:spAutoFit/>
          </a:bodyPr>
          <a:lstStyle/>
          <a:p>
            <a:pPr algn="l"/>
            <a:r>
              <a:rPr sz="1100" b="0" i="0">
                <a:solidFill>
                  <a:srgbClr val="1A202C"/>
                </a:solidFill>
                <a:latin typeface="Meiryo"/>
              </a:rPr>
              <a:t>文書作成・情報収集工数 30%削減</a:t>
            </a:r>
          </a:p>
        </p:txBody>
      </p:sp>
      <p:sp>
        <p:nvSpPr>
          <p:cNvPr id="13" name="Rectangle 12"/>
          <p:cNvSpPr/>
          <p:nvPr/>
        </p:nvSpPr>
        <p:spPr>
          <a:xfrm>
            <a:off x="4200144" y="1143000"/>
            <a:ext cx="3788664" cy="594360"/>
          </a:xfrm>
          <a:prstGeom prst="rect">
            <a:avLst/>
          </a:prstGeom>
          <a:solidFill>
            <a:srgbClr val="0A7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1584" y="1161288"/>
            <a:ext cx="3605784" cy="548640"/>
          </a:xfrm>
          <a:prstGeom prst="rect">
            <a:avLst/>
          </a:prstGeom>
          <a:noFill/>
        </p:spPr>
        <p:txBody>
          <a:bodyPr wrap="square">
            <a:spAutoFit/>
          </a:bodyPr>
          <a:lstStyle/>
          <a:p>
            <a:pPr algn="l"/>
            <a:r>
              <a:rPr sz="1400" b="1" i="0">
                <a:solidFill>
                  <a:srgbClr val="FFFFFF"/>
                </a:solidFill>
                <a:latin typeface="Meiryo"/>
              </a:rPr>
              <a:t>Phase 2：部門展開</a:t>
            </a:r>
          </a:p>
        </p:txBody>
      </p:sp>
      <p:sp>
        <p:nvSpPr>
          <p:cNvPr id="15" name="Rectangle 14"/>
          <p:cNvSpPr/>
          <p:nvPr/>
        </p:nvSpPr>
        <p:spPr>
          <a:xfrm>
            <a:off x="4200144" y="1783080"/>
            <a:ext cx="3788664" cy="38404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09872" y="1847088"/>
            <a:ext cx="3569208" cy="320040"/>
          </a:xfrm>
          <a:prstGeom prst="rect">
            <a:avLst/>
          </a:prstGeom>
          <a:noFill/>
        </p:spPr>
        <p:txBody>
          <a:bodyPr wrap="square">
            <a:spAutoFit/>
          </a:bodyPr>
          <a:lstStyle/>
          <a:p>
            <a:pPr algn="l"/>
            <a:r>
              <a:rPr sz="1100" b="0" i="1">
                <a:solidFill>
                  <a:srgbClr val="4A5568"/>
                </a:solidFill>
                <a:latin typeface="Meiryo"/>
              </a:rPr>
              <a:t>期間：2〜4ヶ月</a:t>
            </a:r>
          </a:p>
        </p:txBody>
      </p:sp>
      <p:sp>
        <p:nvSpPr>
          <p:cNvPr id="17" name="TextBox 16"/>
          <p:cNvSpPr txBox="1"/>
          <p:nvPr/>
        </p:nvSpPr>
        <p:spPr>
          <a:xfrm>
            <a:off x="4309872" y="2212848"/>
            <a:ext cx="3569208" cy="3291840"/>
          </a:xfrm>
          <a:prstGeom prst="rect">
            <a:avLst/>
          </a:prstGeom>
          <a:noFill/>
        </p:spPr>
        <p:txBody>
          <a:bodyPr wrap="square">
            <a:spAutoFit/>
          </a:bodyPr>
          <a:lstStyle/>
          <a:p>
            <a:pPr algn="l"/>
            <a:r>
              <a:rPr sz="1200" b="0" i="0">
                <a:solidFill>
                  <a:srgbClr val="1A202C"/>
                </a:solidFill>
                <a:latin typeface="Meiryo"/>
              </a:rPr>
              <a:t>• 全部門に展開・業務別MCP整備</a:t>
            </a:r>
          </a:p>
          <a:p>
            <a:pPr algn="l"/>
            <a:r>
              <a:rPr sz="1200" b="0" i="0">
                <a:solidFill>
                  <a:srgbClr val="1A202C"/>
                </a:solidFill>
                <a:latin typeface="Meiryo"/>
              </a:rPr>
              <a:t>• 社内DB・基幹システムとのMCP連携</a:t>
            </a:r>
          </a:p>
          <a:p>
            <a:pPr algn="l"/>
            <a:r>
              <a:rPr sz="1200" b="0" i="0">
                <a:solidFill>
                  <a:srgbClr val="1A202C"/>
                </a:solidFill>
                <a:latin typeface="Meiryo"/>
              </a:rPr>
              <a:t>• 部門別カスタムコマンド整備</a:t>
            </a:r>
          </a:p>
          <a:p>
            <a:pPr algn="l"/>
            <a:r>
              <a:rPr sz="1200" b="0" i="0">
                <a:solidFill>
                  <a:srgbClr val="1A202C"/>
                </a:solidFill>
                <a:latin typeface="Meiryo"/>
              </a:rPr>
              <a:t>• マルチエージェント活用の試験運用</a:t>
            </a:r>
          </a:p>
          <a:p>
            <a:pPr algn="l"/>
            <a:r>
              <a:rPr sz="1200" b="0" i="0">
                <a:solidFill>
                  <a:srgbClr val="1A202C"/>
                </a:solidFill>
                <a:latin typeface="Meiryo"/>
              </a:rPr>
              <a:t>• 社員教育・活用推進担当の設置</a:t>
            </a:r>
          </a:p>
        </p:txBody>
      </p:sp>
      <p:sp>
        <p:nvSpPr>
          <p:cNvPr id="18" name="Rectangle 17"/>
          <p:cNvSpPr/>
          <p:nvPr/>
        </p:nvSpPr>
        <p:spPr>
          <a:xfrm>
            <a:off x="4200144" y="5669280"/>
            <a:ext cx="3788664" cy="685800"/>
          </a:xfrm>
          <a:prstGeom prst="rect">
            <a:avLst/>
          </a:prstGeom>
          <a:solidFill>
            <a:srgbClr val="DCE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9872" y="5687568"/>
            <a:ext cx="3569208" cy="274320"/>
          </a:xfrm>
          <a:prstGeom prst="rect">
            <a:avLst/>
          </a:prstGeom>
          <a:noFill/>
        </p:spPr>
        <p:txBody>
          <a:bodyPr wrap="square">
            <a:spAutoFit/>
          </a:bodyPr>
          <a:lstStyle/>
          <a:p>
            <a:pPr algn="l"/>
            <a:r>
              <a:rPr sz="1000" b="1" i="0">
                <a:solidFill>
                  <a:srgbClr val="2A5298"/>
                </a:solidFill>
                <a:latin typeface="Meiryo"/>
              </a:rPr>
              <a:t>KPI目標</a:t>
            </a:r>
          </a:p>
        </p:txBody>
      </p:sp>
      <p:sp>
        <p:nvSpPr>
          <p:cNvPr id="20" name="TextBox 19"/>
          <p:cNvSpPr txBox="1"/>
          <p:nvPr/>
        </p:nvSpPr>
        <p:spPr>
          <a:xfrm>
            <a:off x="4309872" y="5943600"/>
            <a:ext cx="3569208" cy="365760"/>
          </a:xfrm>
          <a:prstGeom prst="rect">
            <a:avLst/>
          </a:prstGeom>
          <a:noFill/>
        </p:spPr>
        <p:txBody>
          <a:bodyPr wrap="square">
            <a:spAutoFit/>
          </a:bodyPr>
          <a:lstStyle/>
          <a:p>
            <a:pPr algn="l"/>
            <a:r>
              <a:rPr sz="1100" b="0" i="0">
                <a:solidFill>
                  <a:srgbClr val="1A202C"/>
                </a:solidFill>
                <a:latin typeface="Meiryo"/>
              </a:rPr>
              <a:t>定型業務 50%自動化・残業削減</a:t>
            </a:r>
          </a:p>
        </p:txBody>
      </p:sp>
      <p:sp>
        <p:nvSpPr>
          <p:cNvPr id="21" name="Rectangle 20"/>
          <p:cNvSpPr/>
          <p:nvPr/>
        </p:nvSpPr>
        <p:spPr>
          <a:xfrm>
            <a:off x="8125968" y="1143000"/>
            <a:ext cx="3788664" cy="59436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7408" y="1161288"/>
            <a:ext cx="3605784" cy="548640"/>
          </a:xfrm>
          <a:prstGeom prst="rect">
            <a:avLst/>
          </a:prstGeom>
          <a:noFill/>
        </p:spPr>
        <p:txBody>
          <a:bodyPr wrap="square">
            <a:spAutoFit/>
          </a:bodyPr>
          <a:lstStyle/>
          <a:p>
            <a:pPr algn="l"/>
            <a:r>
              <a:rPr sz="1400" b="1" i="0">
                <a:solidFill>
                  <a:srgbClr val="FFFFFF"/>
                </a:solidFill>
                <a:latin typeface="Meiryo"/>
              </a:rPr>
              <a:t>Phase 3：外部展開・収益化</a:t>
            </a:r>
          </a:p>
        </p:txBody>
      </p:sp>
      <p:sp>
        <p:nvSpPr>
          <p:cNvPr id="23" name="Rectangle 22"/>
          <p:cNvSpPr/>
          <p:nvPr/>
        </p:nvSpPr>
        <p:spPr>
          <a:xfrm>
            <a:off x="8125968" y="1783080"/>
            <a:ext cx="3788664" cy="38404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5696" y="1847088"/>
            <a:ext cx="3569208" cy="320040"/>
          </a:xfrm>
          <a:prstGeom prst="rect">
            <a:avLst/>
          </a:prstGeom>
          <a:noFill/>
        </p:spPr>
        <p:txBody>
          <a:bodyPr wrap="square">
            <a:spAutoFit/>
          </a:bodyPr>
          <a:lstStyle/>
          <a:p>
            <a:pPr algn="l"/>
            <a:r>
              <a:rPr sz="1100" b="0" i="1">
                <a:solidFill>
                  <a:srgbClr val="4A5568"/>
                </a:solidFill>
                <a:latin typeface="Meiryo"/>
              </a:rPr>
              <a:t>期間：5ヶ月以降</a:t>
            </a:r>
          </a:p>
        </p:txBody>
      </p:sp>
      <p:sp>
        <p:nvSpPr>
          <p:cNvPr id="25" name="TextBox 24"/>
          <p:cNvSpPr txBox="1"/>
          <p:nvPr/>
        </p:nvSpPr>
        <p:spPr>
          <a:xfrm>
            <a:off x="8235696" y="2212848"/>
            <a:ext cx="3569208" cy="3291840"/>
          </a:xfrm>
          <a:prstGeom prst="rect">
            <a:avLst/>
          </a:prstGeom>
          <a:noFill/>
        </p:spPr>
        <p:txBody>
          <a:bodyPr wrap="square">
            <a:spAutoFit/>
          </a:bodyPr>
          <a:lstStyle/>
          <a:p>
            <a:pPr algn="l"/>
            <a:r>
              <a:rPr sz="1200" b="0" i="0">
                <a:solidFill>
                  <a:srgbClr val="1A202C"/>
                </a:solidFill>
                <a:latin typeface="Meiryo"/>
              </a:rPr>
              <a:t>• 顧客向けAIエージェント導入支援</a:t>
            </a:r>
          </a:p>
          <a:p>
            <a:pPr algn="l"/>
            <a:r>
              <a:rPr sz="1200" b="0" i="0">
                <a:solidFill>
                  <a:srgbClr val="1A202C"/>
                </a:solidFill>
                <a:latin typeface="Meiryo"/>
              </a:rPr>
              <a:t>• MCP構築サービスの提供開始</a:t>
            </a:r>
          </a:p>
          <a:p>
            <a:pPr algn="l"/>
            <a:r>
              <a:rPr sz="1200" b="0" i="0">
                <a:solidFill>
                  <a:srgbClr val="1A202C"/>
                </a:solidFill>
                <a:latin typeface="Meiryo"/>
              </a:rPr>
              <a:t>• AI活用実績を営業ツールとして活用</a:t>
            </a:r>
          </a:p>
          <a:p>
            <a:pPr algn="l"/>
            <a:r>
              <a:rPr sz="1200" b="0" i="0">
                <a:solidFill>
                  <a:srgbClr val="1A202C"/>
                </a:solidFill>
                <a:latin typeface="Meiryo"/>
              </a:rPr>
              <a:t>• 提案書への「AI活用実績」訴求追加</a:t>
            </a:r>
          </a:p>
          <a:p>
            <a:pPr algn="l"/>
            <a:r>
              <a:rPr sz="1200" b="0" i="0">
                <a:solidFill>
                  <a:srgbClr val="1A202C"/>
                </a:solidFill>
                <a:latin typeface="Meiryo"/>
              </a:rPr>
              <a:t>• 継続的なコスト最適化</a:t>
            </a:r>
          </a:p>
        </p:txBody>
      </p:sp>
      <p:sp>
        <p:nvSpPr>
          <p:cNvPr id="26" name="Rectangle 25"/>
          <p:cNvSpPr/>
          <p:nvPr/>
        </p:nvSpPr>
        <p:spPr>
          <a:xfrm>
            <a:off x="8125968" y="5669280"/>
            <a:ext cx="3788664" cy="685800"/>
          </a:xfrm>
          <a:prstGeom prst="rect">
            <a:avLst/>
          </a:prstGeom>
          <a:solidFill>
            <a:srgbClr val="DCE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35696" y="5687568"/>
            <a:ext cx="3569208" cy="274320"/>
          </a:xfrm>
          <a:prstGeom prst="rect">
            <a:avLst/>
          </a:prstGeom>
          <a:noFill/>
        </p:spPr>
        <p:txBody>
          <a:bodyPr wrap="square">
            <a:spAutoFit/>
          </a:bodyPr>
          <a:lstStyle/>
          <a:p>
            <a:pPr algn="l"/>
            <a:r>
              <a:rPr sz="1000" b="1" i="0">
                <a:solidFill>
                  <a:srgbClr val="2A5298"/>
                </a:solidFill>
                <a:latin typeface="Meiryo"/>
              </a:rPr>
              <a:t>KPI目標</a:t>
            </a:r>
          </a:p>
        </p:txBody>
      </p:sp>
      <p:sp>
        <p:nvSpPr>
          <p:cNvPr id="28" name="TextBox 27"/>
          <p:cNvSpPr txBox="1"/>
          <p:nvPr/>
        </p:nvSpPr>
        <p:spPr>
          <a:xfrm>
            <a:off x="8235696" y="5943600"/>
            <a:ext cx="3569208" cy="365760"/>
          </a:xfrm>
          <a:prstGeom prst="rect">
            <a:avLst/>
          </a:prstGeom>
          <a:noFill/>
        </p:spPr>
        <p:txBody>
          <a:bodyPr wrap="square">
            <a:spAutoFit/>
          </a:bodyPr>
          <a:lstStyle/>
          <a:p>
            <a:pPr algn="l"/>
            <a:r>
              <a:rPr sz="1100" b="0" i="0">
                <a:solidFill>
                  <a:srgbClr val="1A202C"/>
                </a:solidFill>
                <a:latin typeface="Meiryo"/>
              </a:rPr>
              <a:t>新規AIサービス売上の創出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r>
              <a:rPr sz="2400" b="1" i="0">
                <a:solidFill>
                  <a:srgbClr val="FFFFFF"/>
                </a:solidFill>
                <a:latin typeface="Meiryo"/>
              </a:rPr>
              <a:t>07｜まとめ・経営への提言</a:t>
            </a:r>
          </a:p>
        </p:txBody>
      </p:sp>
      <p:sp>
        <p:nvSpPr>
          <p:cNvPr id="4" name="Rectangle 3"/>
          <p:cNvSpPr/>
          <p:nvPr/>
        </p:nvSpPr>
        <p:spPr>
          <a:xfrm>
            <a:off x="365760" y="1097280"/>
            <a:ext cx="2727198" cy="1280160"/>
          </a:xfrm>
          <a:prstGeom prst="rect">
            <a:avLst/>
          </a:prstGeom>
          <a:solidFill>
            <a:srgbClr val="F3F4F6"/>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43000"/>
            <a:ext cx="2727198" cy="640080"/>
          </a:xfrm>
          <a:prstGeom prst="rect">
            <a:avLst/>
          </a:prstGeom>
          <a:noFill/>
        </p:spPr>
        <p:txBody>
          <a:bodyPr wrap="square">
            <a:spAutoFit/>
          </a:bodyPr>
          <a:lstStyle/>
          <a:p>
            <a:pPr algn="ctr"/>
            <a:r>
              <a:rPr sz="2200" b="1" i="0">
                <a:solidFill>
                  <a:srgbClr val="2A5298"/>
                </a:solidFill>
                <a:latin typeface="Meiryo"/>
              </a:rPr>
              <a:t>全部門</a:t>
            </a:r>
          </a:p>
        </p:txBody>
      </p:sp>
      <p:sp>
        <p:nvSpPr>
          <p:cNvPr id="6" name="TextBox 5"/>
          <p:cNvSpPr txBox="1"/>
          <p:nvPr/>
        </p:nvSpPr>
        <p:spPr>
          <a:xfrm>
            <a:off x="365760" y="1719072"/>
            <a:ext cx="2727198" cy="365760"/>
          </a:xfrm>
          <a:prstGeom prst="rect">
            <a:avLst/>
          </a:prstGeom>
          <a:noFill/>
        </p:spPr>
        <p:txBody>
          <a:bodyPr wrap="square">
            <a:spAutoFit/>
          </a:bodyPr>
          <a:lstStyle/>
          <a:p>
            <a:pPr algn="ctr"/>
            <a:r>
              <a:rPr sz="1100" b="0" i="0">
                <a:solidFill>
                  <a:srgbClr val="4A5568"/>
                </a:solidFill>
                <a:latin typeface="Meiryo"/>
              </a:rPr>
              <a:t>活用対象</a:t>
            </a:r>
          </a:p>
        </p:txBody>
      </p:sp>
      <p:sp>
        <p:nvSpPr>
          <p:cNvPr id="7" name="TextBox 6"/>
          <p:cNvSpPr txBox="1"/>
          <p:nvPr/>
        </p:nvSpPr>
        <p:spPr>
          <a:xfrm>
            <a:off x="365760" y="2084831"/>
            <a:ext cx="2727198" cy="256032"/>
          </a:xfrm>
          <a:prstGeom prst="rect">
            <a:avLst/>
          </a:prstGeom>
          <a:noFill/>
        </p:spPr>
        <p:txBody>
          <a:bodyPr wrap="square">
            <a:spAutoFit/>
          </a:bodyPr>
          <a:lstStyle/>
          <a:p>
            <a:pPr algn="ctr"/>
            <a:r>
              <a:rPr sz="900" b="0" i="0">
                <a:solidFill>
                  <a:srgbClr val="4A5568"/>
                </a:solidFill>
                <a:latin typeface="Meiryo"/>
              </a:rPr>
              <a:t>開発・営業・管理・企画</a:t>
            </a:r>
          </a:p>
        </p:txBody>
      </p:sp>
      <p:sp>
        <p:nvSpPr>
          <p:cNvPr id="8" name="Rectangle 7"/>
          <p:cNvSpPr/>
          <p:nvPr/>
        </p:nvSpPr>
        <p:spPr>
          <a:xfrm>
            <a:off x="3230118" y="1097280"/>
            <a:ext cx="2727198" cy="1280160"/>
          </a:xfrm>
          <a:prstGeom prst="rect">
            <a:avLst/>
          </a:prstGeom>
          <a:solidFill>
            <a:srgbClr val="F3F4F6"/>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30118" y="1143000"/>
            <a:ext cx="2727198" cy="640080"/>
          </a:xfrm>
          <a:prstGeom prst="rect">
            <a:avLst/>
          </a:prstGeom>
          <a:noFill/>
        </p:spPr>
        <p:txBody>
          <a:bodyPr wrap="square">
            <a:spAutoFit/>
          </a:bodyPr>
          <a:lstStyle/>
          <a:p>
            <a:pPr algn="ctr"/>
            <a:r>
              <a:rPr sz="2200" b="1" i="0">
                <a:solidFill>
                  <a:srgbClr val="2A5298"/>
                </a:solidFill>
                <a:latin typeface="Meiryo"/>
              </a:rPr>
              <a:t>MCP</a:t>
            </a:r>
          </a:p>
        </p:txBody>
      </p:sp>
      <p:sp>
        <p:nvSpPr>
          <p:cNvPr id="10" name="TextBox 9"/>
          <p:cNvSpPr txBox="1"/>
          <p:nvPr/>
        </p:nvSpPr>
        <p:spPr>
          <a:xfrm>
            <a:off x="3230118" y="1719072"/>
            <a:ext cx="2727198" cy="365760"/>
          </a:xfrm>
          <a:prstGeom prst="rect">
            <a:avLst/>
          </a:prstGeom>
          <a:noFill/>
        </p:spPr>
        <p:txBody>
          <a:bodyPr wrap="square">
            <a:spAutoFit/>
          </a:bodyPr>
          <a:lstStyle/>
          <a:p>
            <a:pPr algn="ctr"/>
            <a:r>
              <a:rPr sz="1100" b="0" i="0">
                <a:solidFill>
                  <a:srgbClr val="4A5568"/>
                </a:solidFill>
                <a:latin typeface="Meiryo"/>
              </a:rPr>
              <a:t>業界標準の接続技術</a:t>
            </a:r>
          </a:p>
        </p:txBody>
      </p:sp>
      <p:sp>
        <p:nvSpPr>
          <p:cNvPr id="11" name="TextBox 10"/>
          <p:cNvSpPr txBox="1"/>
          <p:nvPr/>
        </p:nvSpPr>
        <p:spPr>
          <a:xfrm>
            <a:off x="3230118" y="2084831"/>
            <a:ext cx="2727198" cy="256032"/>
          </a:xfrm>
          <a:prstGeom prst="rect">
            <a:avLst/>
          </a:prstGeom>
          <a:noFill/>
        </p:spPr>
        <p:txBody>
          <a:bodyPr wrap="square">
            <a:spAutoFit/>
          </a:bodyPr>
          <a:lstStyle/>
          <a:p>
            <a:pPr algn="ctr"/>
            <a:r>
              <a:rPr sz="900" b="0" i="0">
                <a:solidFill>
                  <a:srgbClr val="4A5568"/>
                </a:solidFill>
                <a:latin typeface="Meiryo"/>
              </a:rPr>
              <a:t>OpenAI・Googleも採用</a:t>
            </a:r>
          </a:p>
        </p:txBody>
      </p:sp>
      <p:sp>
        <p:nvSpPr>
          <p:cNvPr id="12" name="Rectangle 11"/>
          <p:cNvSpPr/>
          <p:nvPr/>
        </p:nvSpPr>
        <p:spPr>
          <a:xfrm>
            <a:off x="6094476" y="1097280"/>
            <a:ext cx="2727198" cy="1280160"/>
          </a:xfrm>
          <a:prstGeom prst="rect">
            <a:avLst/>
          </a:prstGeom>
          <a:solidFill>
            <a:srgbClr val="F3F4F6"/>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4476" y="1143000"/>
            <a:ext cx="2727198" cy="640080"/>
          </a:xfrm>
          <a:prstGeom prst="rect">
            <a:avLst/>
          </a:prstGeom>
          <a:noFill/>
        </p:spPr>
        <p:txBody>
          <a:bodyPr wrap="square">
            <a:spAutoFit/>
          </a:bodyPr>
          <a:lstStyle/>
          <a:p>
            <a:pPr algn="ctr"/>
            <a:r>
              <a:rPr sz="2200" b="1" i="0">
                <a:solidFill>
                  <a:srgbClr val="2A5298"/>
                </a:solidFill>
                <a:latin typeface="Meiryo"/>
              </a:rPr>
              <a:t>約21倍</a:t>
            </a:r>
          </a:p>
        </p:txBody>
      </p:sp>
      <p:sp>
        <p:nvSpPr>
          <p:cNvPr id="14" name="TextBox 13"/>
          <p:cNvSpPr txBox="1"/>
          <p:nvPr/>
        </p:nvSpPr>
        <p:spPr>
          <a:xfrm>
            <a:off x="6094476" y="1719072"/>
            <a:ext cx="2727198" cy="365760"/>
          </a:xfrm>
          <a:prstGeom prst="rect">
            <a:avLst/>
          </a:prstGeom>
          <a:noFill/>
        </p:spPr>
        <p:txBody>
          <a:bodyPr wrap="square">
            <a:spAutoFit/>
          </a:bodyPr>
          <a:lstStyle/>
          <a:p>
            <a:pPr algn="ctr"/>
            <a:r>
              <a:rPr sz="1100" b="0" i="0">
                <a:solidFill>
                  <a:srgbClr val="4A5568"/>
                </a:solidFill>
                <a:latin typeface="Meiryo"/>
              </a:rPr>
              <a:t>月次ROI（試算）</a:t>
            </a:r>
          </a:p>
        </p:txBody>
      </p:sp>
      <p:sp>
        <p:nvSpPr>
          <p:cNvPr id="15" name="TextBox 14"/>
          <p:cNvSpPr txBox="1"/>
          <p:nvPr/>
        </p:nvSpPr>
        <p:spPr>
          <a:xfrm>
            <a:off x="6094476" y="2084831"/>
            <a:ext cx="2727198" cy="256032"/>
          </a:xfrm>
          <a:prstGeom prst="rect">
            <a:avLst/>
          </a:prstGeom>
          <a:noFill/>
        </p:spPr>
        <p:txBody>
          <a:bodyPr wrap="square">
            <a:spAutoFit/>
          </a:bodyPr>
          <a:lstStyle/>
          <a:p>
            <a:pPr algn="ctr"/>
            <a:r>
              <a:rPr sz="900" b="0" i="0">
                <a:solidFill>
                  <a:srgbClr val="4A5568"/>
                </a:solidFill>
                <a:latin typeface="Meiryo"/>
              </a:rPr>
              <a:t>20名・生産性20%向上ベース</a:t>
            </a:r>
          </a:p>
        </p:txBody>
      </p:sp>
      <p:sp>
        <p:nvSpPr>
          <p:cNvPr id="16" name="Rectangle 15"/>
          <p:cNvSpPr/>
          <p:nvPr/>
        </p:nvSpPr>
        <p:spPr>
          <a:xfrm>
            <a:off x="8958834" y="1097280"/>
            <a:ext cx="2727198" cy="1280160"/>
          </a:xfrm>
          <a:prstGeom prst="rect">
            <a:avLst/>
          </a:prstGeom>
          <a:solidFill>
            <a:srgbClr val="F3F4F6"/>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58834" y="1143000"/>
            <a:ext cx="2727198" cy="640080"/>
          </a:xfrm>
          <a:prstGeom prst="rect">
            <a:avLst/>
          </a:prstGeom>
          <a:noFill/>
        </p:spPr>
        <p:txBody>
          <a:bodyPr wrap="square">
            <a:spAutoFit/>
          </a:bodyPr>
          <a:lstStyle/>
          <a:p>
            <a:pPr algn="ctr"/>
            <a:r>
              <a:rPr sz="2200" b="1" i="0">
                <a:solidFill>
                  <a:srgbClr val="2A5298"/>
                </a:solidFill>
                <a:latin typeface="Meiryo"/>
              </a:rPr>
              <a:t>新収益</a:t>
            </a:r>
          </a:p>
        </p:txBody>
      </p:sp>
      <p:sp>
        <p:nvSpPr>
          <p:cNvPr id="18" name="TextBox 17"/>
          <p:cNvSpPr txBox="1"/>
          <p:nvPr/>
        </p:nvSpPr>
        <p:spPr>
          <a:xfrm>
            <a:off x="8958834" y="1719072"/>
            <a:ext cx="2727198" cy="365760"/>
          </a:xfrm>
          <a:prstGeom prst="rect">
            <a:avLst/>
          </a:prstGeom>
          <a:noFill/>
        </p:spPr>
        <p:txBody>
          <a:bodyPr wrap="square">
            <a:spAutoFit/>
          </a:bodyPr>
          <a:lstStyle/>
          <a:p>
            <a:pPr algn="ctr"/>
            <a:r>
              <a:rPr sz="1100" b="0" i="0">
                <a:solidFill>
                  <a:srgbClr val="4A5568"/>
                </a:solidFill>
                <a:latin typeface="Meiryo"/>
              </a:rPr>
              <a:t>顧客への展開可能</a:t>
            </a:r>
          </a:p>
        </p:txBody>
      </p:sp>
      <p:sp>
        <p:nvSpPr>
          <p:cNvPr id="19" name="TextBox 18"/>
          <p:cNvSpPr txBox="1"/>
          <p:nvPr/>
        </p:nvSpPr>
        <p:spPr>
          <a:xfrm>
            <a:off x="8958834" y="2084831"/>
            <a:ext cx="2727198" cy="256032"/>
          </a:xfrm>
          <a:prstGeom prst="rect">
            <a:avLst/>
          </a:prstGeom>
          <a:noFill/>
        </p:spPr>
        <p:txBody>
          <a:bodyPr wrap="square">
            <a:spAutoFit/>
          </a:bodyPr>
          <a:lstStyle/>
          <a:p>
            <a:pPr algn="ctr"/>
            <a:r>
              <a:rPr sz="900" b="0" i="0">
                <a:solidFill>
                  <a:srgbClr val="4A5568"/>
                </a:solidFill>
                <a:latin typeface="Meiryo"/>
              </a:rPr>
              <a:t>AI導入支援サービス化</a:t>
            </a:r>
          </a:p>
        </p:txBody>
      </p:sp>
      <p:sp>
        <p:nvSpPr>
          <p:cNvPr id="20" name="Rectangle 19"/>
          <p:cNvSpPr/>
          <p:nvPr/>
        </p:nvSpPr>
        <p:spPr>
          <a:xfrm>
            <a:off x="274320" y="2560320"/>
            <a:ext cx="11640312" cy="3931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670048"/>
            <a:ext cx="10972800" cy="457200"/>
          </a:xfrm>
          <a:prstGeom prst="rect">
            <a:avLst/>
          </a:prstGeom>
          <a:noFill/>
        </p:spPr>
        <p:txBody>
          <a:bodyPr wrap="square">
            <a:spAutoFit/>
          </a:bodyPr>
          <a:lstStyle/>
          <a:p>
            <a:pPr algn="l"/>
            <a:r>
              <a:rPr sz="1600" b="1" i="0">
                <a:solidFill>
                  <a:srgbClr val="FFFFFF"/>
                </a:solidFill>
                <a:latin typeface="Meiryo"/>
              </a:rPr>
              <a:t>🎯  経営判断のポイント</a:t>
            </a:r>
          </a:p>
        </p:txBody>
      </p:sp>
      <p:sp>
        <p:nvSpPr>
          <p:cNvPr id="22" name="Rectangle 21"/>
          <p:cNvSpPr/>
          <p:nvPr/>
        </p:nvSpPr>
        <p:spPr>
          <a:xfrm>
            <a:off x="411480" y="3246120"/>
            <a:ext cx="347472" cy="347472"/>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3246120"/>
            <a:ext cx="347472" cy="347472"/>
          </a:xfrm>
          <a:prstGeom prst="rect">
            <a:avLst/>
          </a:prstGeom>
          <a:noFill/>
        </p:spPr>
        <p:txBody>
          <a:bodyPr wrap="square">
            <a:spAutoFit/>
          </a:bodyPr>
          <a:lstStyle/>
          <a:p>
            <a:pPr algn="ctr"/>
            <a:r>
              <a:rPr sz="1300" b="1" i="0">
                <a:solidFill>
                  <a:srgbClr val="FFFFFF"/>
                </a:solidFill>
                <a:latin typeface="Meiryo"/>
              </a:rPr>
              <a:t>1</a:t>
            </a:r>
          </a:p>
        </p:txBody>
      </p:sp>
      <p:sp>
        <p:nvSpPr>
          <p:cNvPr id="24" name="TextBox 23"/>
          <p:cNvSpPr txBox="1"/>
          <p:nvPr/>
        </p:nvSpPr>
        <p:spPr>
          <a:xfrm>
            <a:off x="822960" y="3246120"/>
            <a:ext cx="10881360" cy="292608"/>
          </a:xfrm>
          <a:prstGeom prst="rect">
            <a:avLst/>
          </a:prstGeom>
          <a:noFill/>
        </p:spPr>
        <p:txBody>
          <a:bodyPr wrap="square">
            <a:spAutoFit/>
          </a:bodyPr>
          <a:lstStyle/>
          <a:p>
            <a:pPr algn="l"/>
            <a:r>
              <a:rPr sz="1300" b="1" i="0">
                <a:solidFill>
                  <a:srgbClr val="FFFFFF"/>
                </a:solidFill>
                <a:latin typeface="Meiryo"/>
              </a:rPr>
              <a:t>「コードを書くAI」ではなく「業務基盤としてのAI」</a:t>
            </a:r>
          </a:p>
        </p:txBody>
      </p:sp>
      <p:sp>
        <p:nvSpPr>
          <p:cNvPr id="25" name="TextBox 24"/>
          <p:cNvSpPr txBox="1"/>
          <p:nvPr/>
        </p:nvSpPr>
        <p:spPr>
          <a:xfrm>
            <a:off x="822960" y="3547872"/>
            <a:ext cx="10881360" cy="475488"/>
          </a:xfrm>
          <a:prstGeom prst="rect">
            <a:avLst/>
          </a:prstGeom>
          <a:noFill/>
        </p:spPr>
        <p:txBody>
          <a:bodyPr wrap="square">
            <a:spAutoFit/>
          </a:bodyPr>
          <a:lstStyle/>
          <a:p>
            <a:pPr algn="l"/>
            <a:r>
              <a:rPr sz="1000" b="0" i="0">
                <a:solidFill>
                  <a:srgbClr val="B4C8E6"/>
                </a:solidFill>
                <a:latin typeface="Meiryo"/>
              </a:rPr>
              <a:t>Claude Codeは開発部門だけのツールではない。MCPによって全社の業務システムと接続し、全部門の生産性を底上げする基盤投資として捉えるべき。</a:t>
            </a:r>
          </a:p>
        </p:txBody>
      </p:sp>
      <p:sp>
        <p:nvSpPr>
          <p:cNvPr id="26" name="Rectangle 25"/>
          <p:cNvSpPr/>
          <p:nvPr/>
        </p:nvSpPr>
        <p:spPr>
          <a:xfrm>
            <a:off x="411480" y="4050791"/>
            <a:ext cx="347472" cy="347472"/>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4050791"/>
            <a:ext cx="347472" cy="347472"/>
          </a:xfrm>
          <a:prstGeom prst="rect">
            <a:avLst/>
          </a:prstGeom>
          <a:noFill/>
        </p:spPr>
        <p:txBody>
          <a:bodyPr wrap="square">
            <a:spAutoFit/>
          </a:bodyPr>
          <a:lstStyle/>
          <a:p>
            <a:pPr algn="ctr"/>
            <a:r>
              <a:rPr sz="1300" b="1" i="0">
                <a:solidFill>
                  <a:srgbClr val="FFFFFF"/>
                </a:solidFill>
                <a:latin typeface="Meiryo"/>
              </a:rPr>
              <a:t>2</a:t>
            </a:r>
          </a:p>
        </p:txBody>
      </p:sp>
      <p:sp>
        <p:nvSpPr>
          <p:cNvPr id="28" name="TextBox 27"/>
          <p:cNvSpPr txBox="1"/>
          <p:nvPr/>
        </p:nvSpPr>
        <p:spPr>
          <a:xfrm>
            <a:off x="822960" y="4050791"/>
            <a:ext cx="10881360" cy="292608"/>
          </a:xfrm>
          <a:prstGeom prst="rect">
            <a:avLst/>
          </a:prstGeom>
          <a:noFill/>
        </p:spPr>
        <p:txBody>
          <a:bodyPr wrap="square">
            <a:spAutoFit/>
          </a:bodyPr>
          <a:lstStyle/>
          <a:p>
            <a:pPr algn="l"/>
            <a:r>
              <a:rPr sz="1300" b="1" i="0">
                <a:solidFill>
                  <a:srgbClr val="FFFFFF"/>
                </a:solidFill>
                <a:latin typeface="Meiryo"/>
              </a:rPr>
              <a:t>シャドーAIを放置することの方がリスクが大きい</a:t>
            </a:r>
          </a:p>
        </p:txBody>
      </p:sp>
      <p:sp>
        <p:nvSpPr>
          <p:cNvPr id="29" name="TextBox 28"/>
          <p:cNvSpPr txBox="1"/>
          <p:nvPr/>
        </p:nvSpPr>
        <p:spPr>
          <a:xfrm>
            <a:off x="822960" y="4352544"/>
            <a:ext cx="10881360" cy="475488"/>
          </a:xfrm>
          <a:prstGeom prst="rect">
            <a:avLst/>
          </a:prstGeom>
          <a:noFill/>
        </p:spPr>
        <p:txBody>
          <a:bodyPr wrap="square">
            <a:spAutoFit/>
          </a:bodyPr>
          <a:lstStyle/>
          <a:p>
            <a:pPr algn="l"/>
            <a:r>
              <a:rPr sz="1000" b="0" i="0">
                <a:solidFill>
                  <a:srgbClr val="B4C8E6"/>
                </a:solidFill>
                <a:latin typeface="Meiryo"/>
              </a:rPr>
              <a:t>社員が個人でAIツールを無断利用している可能性が高い。公式導入によりガバナンスの下に置く方が、顧客情報漏洩リスクを確実に低減できる。</a:t>
            </a:r>
          </a:p>
        </p:txBody>
      </p:sp>
      <p:sp>
        <p:nvSpPr>
          <p:cNvPr id="30" name="Rectangle 29"/>
          <p:cNvSpPr/>
          <p:nvPr/>
        </p:nvSpPr>
        <p:spPr>
          <a:xfrm>
            <a:off x="411480" y="4855464"/>
            <a:ext cx="347472" cy="347472"/>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855464"/>
            <a:ext cx="347472" cy="347472"/>
          </a:xfrm>
          <a:prstGeom prst="rect">
            <a:avLst/>
          </a:prstGeom>
          <a:noFill/>
        </p:spPr>
        <p:txBody>
          <a:bodyPr wrap="square">
            <a:spAutoFit/>
          </a:bodyPr>
          <a:lstStyle/>
          <a:p>
            <a:pPr algn="ctr"/>
            <a:r>
              <a:rPr sz="1300" b="1" i="0">
                <a:solidFill>
                  <a:srgbClr val="FFFFFF"/>
                </a:solidFill>
                <a:latin typeface="Meiryo"/>
              </a:rPr>
              <a:t>3</a:t>
            </a:r>
          </a:p>
        </p:txBody>
      </p:sp>
      <p:sp>
        <p:nvSpPr>
          <p:cNvPr id="32" name="TextBox 31"/>
          <p:cNvSpPr txBox="1"/>
          <p:nvPr/>
        </p:nvSpPr>
        <p:spPr>
          <a:xfrm>
            <a:off x="822960" y="4855464"/>
            <a:ext cx="10881360" cy="292608"/>
          </a:xfrm>
          <a:prstGeom prst="rect">
            <a:avLst/>
          </a:prstGeom>
          <a:noFill/>
        </p:spPr>
        <p:txBody>
          <a:bodyPr wrap="square">
            <a:spAutoFit/>
          </a:bodyPr>
          <a:lstStyle/>
          <a:p>
            <a:pPr algn="l"/>
            <a:r>
              <a:rPr sz="1300" b="1" i="0">
                <a:solidFill>
                  <a:srgbClr val="FFFFFF"/>
                </a:solidFill>
                <a:latin typeface="Meiryo"/>
              </a:rPr>
              <a:t>MCP習熟は今後の受注競争力に直結する</a:t>
            </a:r>
          </a:p>
        </p:txBody>
      </p:sp>
      <p:sp>
        <p:nvSpPr>
          <p:cNvPr id="33" name="TextBox 32"/>
          <p:cNvSpPr txBox="1"/>
          <p:nvPr/>
        </p:nvSpPr>
        <p:spPr>
          <a:xfrm>
            <a:off x="822960" y="5157216"/>
            <a:ext cx="10881360" cy="475488"/>
          </a:xfrm>
          <a:prstGeom prst="rect">
            <a:avLst/>
          </a:prstGeom>
          <a:noFill/>
        </p:spPr>
        <p:txBody>
          <a:bodyPr wrap="square">
            <a:spAutoFit/>
          </a:bodyPr>
          <a:lstStyle/>
          <a:p>
            <a:pPr algn="l"/>
            <a:r>
              <a:rPr sz="1000" b="0" i="0">
                <a:solidFill>
                  <a:srgbClr val="B4C8E6"/>
                </a:solidFill>
                <a:latin typeface="Meiryo"/>
              </a:rPr>
              <a:t>MCPはOpenAI・Googleも採用する業界標準。今から自社実装することで、顧客のAIシステム統合案件を受注する技術的優位性を早期確立できる。</a:t>
            </a:r>
          </a:p>
        </p:txBody>
      </p:sp>
      <p:sp>
        <p:nvSpPr>
          <p:cNvPr id="34" name="Rectangle 33"/>
          <p:cNvSpPr/>
          <p:nvPr/>
        </p:nvSpPr>
        <p:spPr>
          <a:xfrm>
            <a:off x="411480" y="5660136"/>
            <a:ext cx="347472" cy="347472"/>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660136"/>
            <a:ext cx="347472" cy="347472"/>
          </a:xfrm>
          <a:prstGeom prst="rect">
            <a:avLst/>
          </a:prstGeom>
          <a:noFill/>
        </p:spPr>
        <p:txBody>
          <a:bodyPr wrap="square">
            <a:spAutoFit/>
          </a:bodyPr>
          <a:lstStyle/>
          <a:p>
            <a:pPr algn="ctr"/>
            <a:r>
              <a:rPr sz="1300" b="1" i="0">
                <a:solidFill>
                  <a:srgbClr val="FFFFFF"/>
                </a:solidFill>
                <a:latin typeface="Meiryo"/>
              </a:rPr>
              <a:t>4</a:t>
            </a:r>
          </a:p>
        </p:txBody>
      </p:sp>
      <p:sp>
        <p:nvSpPr>
          <p:cNvPr id="36" name="TextBox 35"/>
          <p:cNvSpPr txBox="1"/>
          <p:nvPr/>
        </p:nvSpPr>
        <p:spPr>
          <a:xfrm>
            <a:off x="822960" y="5660136"/>
            <a:ext cx="10881360" cy="292608"/>
          </a:xfrm>
          <a:prstGeom prst="rect">
            <a:avLst/>
          </a:prstGeom>
          <a:noFill/>
        </p:spPr>
        <p:txBody>
          <a:bodyPr wrap="square">
            <a:spAutoFit/>
          </a:bodyPr>
          <a:lstStyle/>
          <a:p>
            <a:pPr algn="l"/>
            <a:r>
              <a:rPr sz="1300" b="1" i="0">
                <a:solidFill>
                  <a:srgbClr val="FFFFFF"/>
                </a:solidFill>
                <a:latin typeface="Meiryo"/>
              </a:rPr>
              <a:t>推奨アクション：まずPoC承認を</a:t>
            </a:r>
          </a:p>
        </p:txBody>
      </p:sp>
      <p:sp>
        <p:nvSpPr>
          <p:cNvPr id="37" name="TextBox 36"/>
          <p:cNvSpPr txBox="1"/>
          <p:nvPr/>
        </p:nvSpPr>
        <p:spPr>
          <a:xfrm>
            <a:off x="822960" y="5961888"/>
            <a:ext cx="10881360" cy="475488"/>
          </a:xfrm>
          <a:prstGeom prst="rect">
            <a:avLst/>
          </a:prstGeom>
          <a:noFill/>
        </p:spPr>
        <p:txBody>
          <a:bodyPr wrap="square">
            <a:spAutoFit/>
          </a:bodyPr>
          <a:lstStyle/>
          <a:p>
            <a:pPr algn="l"/>
            <a:r>
              <a:rPr sz="1000" b="0" i="0">
                <a:solidFill>
                  <a:srgbClr val="B4C8E6"/>
                </a:solidFill>
                <a:latin typeface="Meiryo"/>
              </a:rPr>
              <a:t>AWS Bedrock経由のセキュアな環境で1〜2ヶ月のPoC実施を承認いただきたい。定量効果確認後に全社展開・顧客サービス化を判断する。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